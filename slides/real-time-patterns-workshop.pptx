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7E8F9"/>
                </a:solidFill>
                <a:latin typeface="Helvetica Neue"/>
              </a:rPr>
              <a:t>datasense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E5E7EB"/>
                </a:solidFill>
                <a:latin typeface="Helvetica Neue"/>
              </a:rPr>
              <a:t>Real-Time</a:t>
            </a:r>
          </a:p>
          <a:p>
            <a:pPr>
              <a:spcBef>
                <a:spcPts val="1000"/>
              </a:spcBef>
            </a:pPr>
            <a:r>
              <a:rPr sz="5600" b="1">
                <a:solidFill>
                  <a:srgbClr val="E5E7EB"/>
                </a:solidFill>
                <a:latin typeface="Helvetica Neue"/>
              </a:rPr>
              <a:t>Communication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1663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BBF24"/>
                </a:solidFill>
                <a:latin typeface="Helvetica Neue"/>
              </a:rPr>
              <a:t>Polling</a:t>
            </a:r>
            <a:r>
              <a:rPr sz="2200">
                <a:solidFill>
                  <a:srgbClr val="606878"/>
                </a:solidFill>
                <a:latin typeface="Helvetica Neue"/>
              </a:rPr>
              <a:t>   ·   </a:t>
            </a:r>
            <a:r>
              <a:rPr sz="2200" b="1">
                <a:solidFill>
                  <a:srgbClr val="FB7185"/>
                </a:solidFill>
                <a:latin typeface="Helvetica Neue"/>
              </a:rPr>
              <a:t>Webhooks</a:t>
            </a:r>
            <a:r>
              <a:rPr sz="2200">
                <a:solidFill>
                  <a:srgbClr val="606878"/>
                </a:solidFill>
                <a:latin typeface="Helvetica Neue"/>
              </a:rPr>
              <a:t>   ·   </a:t>
            </a:r>
            <a:r>
              <a:rPr sz="2200" b="1">
                <a:solidFill>
                  <a:srgbClr val="4ADE80"/>
                </a:solidFill>
                <a:latin typeface="Helvetica Neue"/>
              </a:rPr>
              <a:t>SSE</a:t>
            </a:r>
            <a:r>
              <a:rPr sz="2200">
                <a:solidFill>
                  <a:srgbClr val="606878"/>
                </a:solidFill>
                <a:latin typeface="Helvetica Neue"/>
              </a:rPr>
              <a:t>   ·   </a:t>
            </a:r>
            <a:r>
              <a:rPr sz="2200" b="1">
                <a:solidFill>
                  <a:srgbClr val="60A5FA"/>
                </a:solidFill>
                <a:latin typeface="Helvetica Neue"/>
              </a:rPr>
              <a:t>WebSockets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i="1">
                <a:solidFill>
                  <a:srgbClr val="A0A8B8"/>
                </a:solidFill>
                <a:latin typeface="Helvetica Neue"/>
              </a:rPr>
              <a:t>Pick the right pattern. Build apps that feel live without overengineering.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Four patterns, three projects, one running scenario.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2000">
                <a:solidFill>
                  <a:srgbClr val="E5E7EB"/>
                </a:solidFill>
                <a:latin typeface="Helvetica Neue"/>
              </a:rPr>
              <a:t>The four real-time patterns and what each is for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2000">
                <a:solidFill>
                  <a:srgbClr val="E5E7EB"/>
                </a:solidFill>
                <a:latin typeface="Helvetica Neue"/>
              </a:rPr>
              <a:t>When to pick which (the decision tree)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2000">
                <a:solidFill>
                  <a:srgbClr val="E5E7EB"/>
                </a:solidFill>
                <a:latin typeface="Helvetica Neue"/>
              </a:rPr>
              <a:t>HTTP basics + JWT auth, refreshed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2000">
                <a:solidFill>
                  <a:srgbClr val="E5E7EB"/>
                </a:solidFill>
                <a:latin typeface="Helvetica Neue"/>
              </a:rPr>
              <a:t>Hands-on: 7 runnable example folders (server + client per pattern)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2000">
                <a:solidFill>
                  <a:srgbClr val="E5E7EB"/>
                </a:solidFill>
                <a:latin typeface="Helvetica Neue"/>
              </a:rPr>
              <a:t>Three full projects, including the LiveOrder capstone that composes all four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2000">
                <a:solidFill>
                  <a:srgbClr val="E5E7EB"/>
                </a:solidFill>
                <a:latin typeface="Helvetica Neue"/>
              </a:rPr>
              <a:t>Where these show up in AI apps (LLM streaming, MCP, voice agents)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Meet the 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Every example below is told through these four. Same people, different patterns.</a:t>
            </a:r>
          </a:p>
        </p:txBody>
      </p:sp>
      <p:pic>
        <p:nvPicPr>
          <p:cNvPr id="5" name="Picture 4" descr="p_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997" y="1828800"/>
            <a:ext cx="10429701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/>
            <a:r>
              <a:rPr sz="1400" i="1">
                <a:solidFill>
                  <a:srgbClr val="A0A8B8"/>
                </a:solidFill>
                <a:latin typeface="Helvetica Neue"/>
              </a:rPr>
              <a:t>Maya builds it · Raj uses it · Priya cooks it · Sam delivers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LiveOrder: one app, all four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Same backend Maya runs. Each feature picks the pattern that fits.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67E8F9"/>
                </a:solidFill>
                <a:latin typeface="Helvetica Neue"/>
              </a:rP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945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67E8F9"/>
                </a:solidFill>
                <a:latin typeface="Helvetica Neue"/>
              </a:rPr>
              <a:t>DATA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219456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67E8F9"/>
                </a:solidFill>
                <a:latin typeface="Helvetica Neue"/>
              </a:rPr>
              <a:t>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560320"/>
            <a:ext cx="11247120" cy="502920"/>
          </a:xfrm>
          <a:prstGeom prst="rect">
            <a:avLst/>
          </a:prstGeom>
          <a:solidFill>
            <a:srgbClr val="1419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5E7EB"/>
                </a:solidFill>
                <a:latin typeface="Helvetica Neue"/>
              </a:rPr>
              <a:t>Stripe says Raj paid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60604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5E7EB"/>
                </a:solidFill>
                <a:latin typeface="Helvetica Neue"/>
              </a:rPr>
              <a:t>External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60604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B7185"/>
                </a:solidFill>
                <a:latin typeface="Helvetica Neue"/>
              </a:rPr>
              <a:t>WEBHOOK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5E7EB"/>
                </a:solidFill>
                <a:latin typeface="Helvetica Neue"/>
              </a:rPr>
              <a:t>Priya's tablet shows new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1089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5E7EB"/>
                </a:solidFill>
                <a:latin typeface="Helvetica Neue"/>
              </a:rPr>
              <a:t>Server -&gt; restaurant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10896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4ADE80"/>
                </a:solidFill>
                <a:latin typeface="Helvetica Neue"/>
              </a:rPr>
              <a:t>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566160"/>
            <a:ext cx="11247120" cy="502920"/>
          </a:xfrm>
          <a:prstGeom prst="rect">
            <a:avLst/>
          </a:prstGeom>
          <a:solidFill>
            <a:srgbClr val="1419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6118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5E7EB"/>
                </a:solidFill>
                <a:latin typeface="Helvetica Neue"/>
              </a:rPr>
              <a:t>Raj's order status timeline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61188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5E7EB"/>
                </a:solidFill>
                <a:latin typeface="Helvetica Neue"/>
              </a:rPr>
              <a:t>Server -&gt; customer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61188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4ADE80"/>
                </a:solidFill>
                <a:latin typeface="Helvetica Neue"/>
              </a:rPr>
              <a:t>SSE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5E7EB"/>
                </a:solidFill>
                <a:latin typeface="Helvetica Neue"/>
              </a:rPr>
              <a:t>Raj chats with Sam about buzzer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11480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5E7EB"/>
                </a:solidFill>
                <a:latin typeface="Helvetica Neue"/>
              </a:rPr>
              <a:t>Two-way 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411480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0A5FA"/>
                </a:solidFill>
                <a:latin typeface="Helvetica Neue"/>
              </a:rPr>
              <a:t>WEBSOCKET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572000"/>
            <a:ext cx="11247120" cy="502920"/>
          </a:xfrm>
          <a:prstGeom prst="rect">
            <a:avLst/>
          </a:prstGeom>
          <a:solidFill>
            <a:srgbClr val="1419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61772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5E7EB"/>
                </a:solidFill>
                <a:latin typeface="Helvetica Neue"/>
              </a:rPr>
              <a:t>Raj sees Sam's scooter on 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61772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5E7EB"/>
                </a:solidFill>
                <a:latin typeface="Helvetica Neue"/>
              </a:rPr>
              <a:t>Frequent updates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461772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4ADE80"/>
                </a:solidFill>
                <a:latin typeface="Helvetica Neue"/>
              </a:rPr>
              <a:t>SSE / fast polling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12064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5E7EB"/>
                </a:solidFill>
                <a:latin typeface="Helvetica Neue"/>
              </a:rPr>
              <a:t>Maya checks nightly pricing job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512064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5E7EB"/>
                </a:solidFill>
                <a:latin typeface="Helvetica Neue"/>
              </a:rPr>
              <a:t>Rare batch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512064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BBF24"/>
                </a:solidFill>
                <a:latin typeface="Helvetica Neue"/>
              </a:rPr>
              <a:t>POLLING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5216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400" b="1" i="0">
                <a:solidFill>
                  <a:srgbClr val="A0A8B8"/>
                </a:solidFill>
                <a:latin typeface="Helvetica Neue"/>
              </a:rPr>
              <a:t>Same backend. Four patterns. Each one chosen because it fits that feature's shape.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The problem with plain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The client always speaks first. The server can never push.</a:t>
            </a:r>
          </a:p>
        </p:txBody>
      </p:sp>
      <p:pic>
        <p:nvPicPr>
          <p:cNvPr id="5" name="Picture 4" descr="01_http_ba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602" y="1828800"/>
            <a:ext cx="8104491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/>
            <a:r>
              <a:rPr sz="1400" i="1">
                <a:solidFill>
                  <a:srgbClr val="A0A8B8"/>
                </a:solidFill>
                <a:latin typeface="Helvetica Neue"/>
              </a:rPr>
              <a:t>Every real-time pattern in this workshop exists to work around this one limit.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HTTP on the wire - it's just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Request and response are both plain text with a tiny structure. That's the entire protocol.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5486400" cy="384048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E8F9"/>
                </a:solidFill>
                <a:latin typeface="Helvetica Neue"/>
              </a:rPr>
              <a:t>REQUEST  (what your browser sends)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Menlo"/>
              </a:rPr>
              <a:t>GET /api/users HTTP/1.1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Host: api.example.com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Accept: application/json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Authorization: Bearer eyJhbGciOiJ...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User-Agent: Mozilla/5.0 ...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94560"/>
            <a:ext cx="5486400" cy="384048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Helvetica Neue"/>
              </a:rPr>
              <a:t>RESPONSE  (what the server replies)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Menlo"/>
              </a:rPr>
              <a:t>HTTP/1.1 200 OK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Content-Type: application/json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Content-Length: 348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Cache-Control: no-store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{"users":[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{"id":1,"name":"Maya"},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{"id":2,"name":"Raj"}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]}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200" b="0" i="1">
                <a:solidFill>
                  <a:srgbClr val="A0A8B8"/>
                </a:solidFill>
                <a:latin typeface="Helvetica Neue"/>
              </a:rPr>
              <a:t>Method + path + headers + blank line + optional body.  Status line + headers + blank line + body.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Stateless - the single property that makes real-time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The server has no memory between requests. The client carries everything.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0" i="0">
                <a:solidFill>
                  <a:srgbClr val="E5E7EB"/>
                </a:solidFill>
                <a:latin typeface="Helvetica Neue"/>
              </a:rPr>
              <a:t>Two requests one second apart  =  two strangers walking up to a counter.</a:t>
            </a:r>
          </a:p>
          <a:p>
            <a:pPr algn="l"/>
            <a:r>
              <a:rPr sz="1500" b="0" i="0">
                <a:solidFill>
                  <a:srgbClr val="E5E7EB"/>
                </a:solidFill>
                <a:latin typeface="Helvetica Neue"/>
              </a:rPr>
              <a:t>The server doesn't remember 'Maya is logged in' - it re-derives it from the token Maya's browser</a:t>
            </a:r>
          </a:p>
          <a:p>
            <a:pPr algn="l"/>
            <a:r>
              <a:rPr sz="1500" b="0" i="0">
                <a:solidFill>
                  <a:srgbClr val="E5E7EB"/>
                </a:solidFill>
                <a:latin typeface="Helvetica Neue"/>
              </a:rPr>
              <a:t>sends with every single request.</a:t>
            </a:r>
          </a:p>
          <a:p>
            <a:pPr algn="l"/>
          </a:p>
          <a:p>
            <a:pPr algn="l"/>
            <a:r>
              <a:rPr sz="1500" b="0" i="0">
                <a:solidFill>
                  <a:srgbClr val="E5E7EB"/>
                </a:solidFill>
                <a:latin typeface="Helvetica Neue"/>
              </a:rPr>
              <a:t>This is GREAT for scale (any server can serve any request) but TERRIBLE for real-time:</a:t>
            </a:r>
          </a:p>
          <a:p>
            <a:pPr algn="l"/>
          </a:p>
          <a:p>
            <a:pPr algn="l"/>
            <a:r>
              <a:rPr sz="1500" b="0" i="0">
                <a:solidFill>
                  <a:srgbClr val="E5E7EB"/>
                </a:solidFill>
                <a:latin typeface="Helvetica Neue"/>
              </a:rPr>
              <a:t>When a new message arrives on the server for Raj, the server cannot say 'let me notify Raj' -</a:t>
            </a:r>
          </a:p>
          <a:p>
            <a:pPr algn="l"/>
            <a:r>
              <a:rPr sz="1500" b="0" i="0">
                <a:solidFill>
                  <a:srgbClr val="E5E7EB"/>
                </a:solidFill>
                <a:latin typeface="Helvetica Neue"/>
              </a:rPr>
              <a:t>there is no open line to Raj. There is no phone number. There is no email address baked in.</a:t>
            </a:r>
          </a:p>
          <a:p>
            <a:pPr algn="l"/>
          </a:p>
          <a:p>
            <a:pPr algn="l"/>
            <a:r>
              <a:rPr sz="1500" b="0" i="0">
                <a:solidFill>
                  <a:srgbClr val="E5E7EB"/>
                </a:solidFill>
                <a:latin typeface="Helvetica Neue"/>
              </a:rPr>
              <a:t>The four real-time patterns are all answers to the question:</a:t>
            </a:r>
          </a:p>
          <a:p>
            <a:pPr algn="l"/>
            <a:r>
              <a:rPr sz="1500" b="0" i="0">
                <a:solidFill>
                  <a:srgbClr val="E5E7EB"/>
                </a:solidFill>
                <a:latin typeface="Helvetica Neue"/>
              </a:rPr>
              <a:t>  'how do we work around HTTP being request/response, stateless, and client-initiated?'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303520"/>
            <a:ext cx="3657600" cy="9144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BBF24"/>
                </a:solidFill>
                <a:latin typeface="Helvetica Neue"/>
              </a:rPr>
              <a:t>Polling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15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client keeps asking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5303520"/>
            <a:ext cx="3657600" cy="9144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53949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4ADE80"/>
                </a:solidFill>
                <a:latin typeface="Helvetica Neue"/>
              </a:rPr>
              <a:t>SSE / 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5715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client opens a long-lived line; server pushes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5303520"/>
            <a:ext cx="3657600" cy="9144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53949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B7185"/>
                </a:solidFill>
                <a:latin typeface="Helvetica Neue"/>
              </a:rPr>
              <a:t>Webhook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5715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an external system already had a line to your 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HTTP status codes that matter for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Memorise these. You'll handle them in every pattern below.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7E8F9"/>
                </a:solidFill>
                <a:latin typeface="Helvetica Neue"/>
              </a:rPr>
              <a:t>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103120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7E8F9"/>
                </a:solidFill>
                <a:latin typeface="Helvetica Neue"/>
              </a:rPr>
              <a:t>MEANING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103120"/>
            <a:ext cx="7406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7E8F9"/>
                </a:solidFill>
                <a:latin typeface="Helvetica Neue"/>
              </a:rPr>
              <a:t>WHEN YOU'LL SEE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7E8F9"/>
                </a:solidFill>
                <a:latin typeface="Menlo"/>
              </a:rPr>
              <a:t>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468880"/>
            <a:ext cx="2377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68880"/>
            <a:ext cx="74066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successful poll; successful webhook receipt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98064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7E8F9"/>
                </a:solidFill>
                <a:latin typeface="Menlo"/>
              </a:rPr>
              <a:t>201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798064"/>
            <a:ext cx="2377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Created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798064"/>
            <a:ext cx="74066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after a POST that creates something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272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7E8F9"/>
                </a:solidFill>
                <a:latin typeface="Menlo"/>
              </a:rPr>
              <a:t>202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127248"/>
            <a:ext cx="2377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Accepted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74066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'Got it, processing async' - webhook receivers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56432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7E8F9"/>
                </a:solidFill>
                <a:latin typeface="Menlo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456432"/>
            <a:ext cx="2377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No 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456432"/>
            <a:ext cx="74066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long-poll timeout; nothing to send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85616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7E8F9"/>
                </a:solidFill>
                <a:latin typeface="Menlo"/>
              </a:rPr>
              <a:t>304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785616"/>
            <a:ext cx="2377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Not Modified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785616"/>
            <a:ext cx="74066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ETag/If-None-Match - smart polling savings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14800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7E8F9"/>
                </a:solidFill>
                <a:latin typeface="Menlo"/>
              </a:rPr>
              <a:t>401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14800"/>
            <a:ext cx="2377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Unauthorized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114800"/>
            <a:ext cx="74066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missing/expired token; bad webhook signature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443984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7E8F9"/>
                </a:solidFill>
                <a:latin typeface="Menlo"/>
              </a:rPr>
              <a:t>404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443984"/>
            <a:ext cx="2377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Not Found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443984"/>
            <a:ext cx="74066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wrong URL or missing record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77316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7E8F9"/>
                </a:solidFill>
                <a:latin typeface="Menlo"/>
              </a:rPr>
              <a:t>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4773168"/>
            <a:ext cx="2377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Request Timeout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773168"/>
            <a:ext cx="74066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long-poll fell past server limit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102352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7E8F9"/>
                </a:solidFill>
                <a:latin typeface="Menlo"/>
              </a:rPr>
              <a:t>429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5102352"/>
            <a:ext cx="2377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Too Many Requests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5102352"/>
            <a:ext cx="74066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polling too fast or rate-limited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31536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7E8F9"/>
                </a:solidFill>
                <a:latin typeface="Menlo"/>
              </a:rPr>
              <a:t>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5431536"/>
            <a:ext cx="2377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Internal Server Error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5431536"/>
            <a:ext cx="74066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bug; crashed dependency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760720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7E8F9"/>
                </a:solidFill>
                <a:latin typeface="Menlo"/>
              </a:rPr>
              <a:t>502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37360" y="5760720"/>
            <a:ext cx="2377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Bad Gateway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5760720"/>
            <a:ext cx="74066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proxy got nothing useful from backend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089904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7E8F9"/>
                </a:solidFill>
                <a:latin typeface="Menlo"/>
              </a:rPr>
              <a:t>503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360" y="6089904"/>
            <a:ext cx="23774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Service Unavailable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0" y="6089904"/>
            <a:ext cx="74066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maintenance, overload; webhook senders retry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Stateless vs stateful, per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HTTP itself is stateless. Some patterns add stateful connections on top.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E8F9"/>
                </a:solidFill>
                <a:latin typeface="Helvetica Neue"/>
              </a:rPr>
              <a:t>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2860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E8F9"/>
                </a:solidFill>
                <a:latin typeface="Helvetica Neue"/>
              </a:rPr>
              <a:t>CONNECTION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28600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E8F9"/>
                </a:solidFill>
                <a:latin typeface="Helvetica Neue"/>
              </a:rPr>
              <a:t>STATEFUL?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5E7EB"/>
                </a:solidFill>
                <a:latin typeface="Helvetica Neue"/>
              </a:rPr>
              <a:t>Polling (short)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74320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5E7EB"/>
                </a:solidFill>
                <a:latin typeface="Helvetica Neue"/>
              </a:rPr>
              <a:t>new HTTP request per poll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0A8B8"/>
                </a:solidFill>
                <a:latin typeface="Helvetica Neue"/>
              </a:rPr>
              <a:t>Stateless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5E7EB"/>
                </a:solidFill>
                <a:latin typeface="Helvetica Neue"/>
              </a:rPr>
              <a:t>Polling (long)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38328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5E7EB"/>
                </a:solidFill>
                <a:latin typeface="Helvetica Neue"/>
              </a:rPr>
              <a:t>one held HTTP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38328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0A8B8"/>
                </a:solidFill>
                <a:latin typeface="Helvetica Neue"/>
              </a:rPr>
              <a:t>Stateless on server, in-flight on 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2336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5E7EB"/>
                </a:solidFill>
                <a:latin typeface="Helvetica Neue"/>
              </a:rPr>
              <a:t>Webhook receiver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02336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5E7EB"/>
                </a:solidFill>
                <a:latin typeface="Helvetica Neue"/>
              </a:rPr>
              <a:t>separate HTTP request per event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02336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0A8B8"/>
                </a:solidFill>
                <a:latin typeface="Helvetica Neue"/>
              </a:rPr>
              <a:t>Stateless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66344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5E7EB"/>
                </a:solidFill>
                <a:latin typeface="Helvetica Neue"/>
              </a:rPr>
              <a:t>SSE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66344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5E7EB"/>
                </a:solidFill>
                <a:latin typeface="Helvetica Neue"/>
              </a:rPr>
              <a:t>one long-lived HTTP connection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66344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0A8B8"/>
                </a:solidFill>
                <a:latin typeface="Helvetica Neue"/>
              </a:rPr>
              <a:t>Stateful at the transport level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0352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5E7EB"/>
                </a:solidFill>
                <a:latin typeface="Helvetica Neue"/>
              </a:rPr>
              <a:t>WebSocket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5E7EB"/>
                </a:solidFill>
                <a:latin typeface="Helvetica Neue"/>
              </a:rPr>
              <a:t>one persistent connection, both directions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530352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ADE80"/>
                </a:solidFill>
                <a:latin typeface="Helvetica Neue"/>
              </a:rPr>
              <a:t>Stateful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400" b="1" i="0">
                <a:solidFill>
                  <a:srgbClr val="A0A8B8"/>
                </a:solidFill>
                <a:latin typeface="Helvetica Neue"/>
              </a:rPr>
              <a:t>Stateful = costs memory per client. 100K SSE/WS connections = ~10 GB. Plan accordingly.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HTTP versions in 90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All four real-time patterns are identical across versions. Only scaling limits differ.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1091672" cy="86868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7E8F9"/>
                </a:solidFill>
                <a:latin typeface="Helvetica Neue"/>
              </a:rPr>
              <a:t>HTTP/1.0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4231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E7EB"/>
                </a:solidFill>
                <a:latin typeface="Helvetica Neue"/>
              </a:rPr>
              <a:t>one TCP connection per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0A8B8"/>
                </a:solidFill>
                <a:latin typeface="Helvetica Neue"/>
              </a:rPr>
              <a:t>why care: mostly historical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46120"/>
            <a:ext cx="11091672" cy="86868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7E8F9"/>
                </a:solidFill>
                <a:latin typeface="Helvetica Neue"/>
              </a:rPr>
              <a:t>HTTP/1.1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383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E7EB"/>
                </a:solidFill>
                <a:latin typeface="Helvetica Neue"/>
              </a:rPr>
              <a:t>keep-alive (re-use connections), chunked transfer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03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0A8B8"/>
                </a:solidFill>
                <a:latin typeface="Helvetica Neue"/>
              </a:rPr>
              <a:t>why care: what most 'long-lived' patterns assume; SSE works here but is limited to 6 connections per host in browsers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06240"/>
            <a:ext cx="11091672" cy="86868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7E8F9"/>
                </a:solidFill>
                <a:latin typeface="Helvetica Neue"/>
              </a:rPr>
              <a:t>HTTP/2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34340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E7EB"/>
                </a:solidFill>
                <a:latin typeface="Helvetica Neue"/>
              </a:rPr>
              <a:t>one TCP connection multiplexes many parallel requests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0A8B8"/>
                </a:solidFill>
                <a:latin typeface="Helvetica Neue"/>
              </a:rPr>
              <a:t>why care: SSE works much better here; modern default everywhere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166360"/>
            <a:ext cx="11091672" cy="86868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303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7E8F9"/>
                </a:solidFill>
                <a:latin typeface="Helvetica Neue"/>
              </a:rPr>
              <a:t>HTTP/3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530352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E7EB"/>
                </a:solidFill>
                <a:latin typeface="Helvetica Neue"/>
              </a:rPr>
              <a:t>same idea as HTTP/2 but runs on UDP (QUIC)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23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0A8B8"/>
                </a:solidFill>
                <a:latin typeface="Helvetica Neue"/>
              </a:rPr>
              <a:t>why care: better on flaky mobile; connection survives IP changes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The four patterns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Mental model first. Wire format and code in the next sections.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2651760" cy="3657600"/>
          </a:xfrm>
          <a:prstGeom prst="roundRect">
            <a:avLst/>
          </a:prstGeom>
          <a:solidFill>
            <a:srgbClr val="141923"/>
          </a:solidFill>
          <a:ln w="9525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2651760" cy="10972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2651760" cy="457200"/>
          </a:xfrm>
          <a:prstGeom prst="rect">
            <a:avLst/>
          </a:prstGeom>
          <a:noFill/>
        </p:spPr>
        <p:txBody>
          <a:bodyPr wrap="none" lIns="182880" rIns="182880" tIns="0">
            <a:spAutoFit/>
          </a:bodyPr>
          <a:lstStyle/>
          <a:p>
            <a:r>
              <a:rPr sz="2000" b="1">
                <a:solidFill>
                  <a:srgbClr val="FBBF24"/>
                </a:solidFill>
                <a:latin typeface="Helvetica Neue"/>
              </a:rPr>
              <a:t>POLLING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2651760" cy="822960"/>
          </a:xfrm>
          <a:prstGeom prst="rect">
            <a:avLst/>
          </a:prstGeom>
          <a:noFill/>
        </p:spPr>
        <p:txBody>
          <a:bodyPr wrap="none" lIns="182880" rIns="182880" tIns="0">
            <a:spAutoFit/>
          </a:bodyPr>
          <a:lstStyle/>
          <a:p>
            <a:r>
              <a:rPr sz="1500" i="1">
                <a:solidFill>
                  <a:srgbClr val="E5E7EB"/>
                </a:solidFill>
                <a:latin typeface="Helvetica Neue"/>
              </a:rPr>
              <a:t>Are we there yet?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2651760" cy="1554480"/>
          </a:xfrm>
          <a:prstGeom prst="rect">
            <a:avLst/>
          </a:prstGeom>
          <a:noFill/>
        </p:spPr>
        <p:txBody>
          <a:bodyPr wrap="square" lIns="182880" rIns="182880" tIns="0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Client repeatedly asks the server on a timer. Crude. Sometimes the right answer.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286000"/>
            <a:ext cx="2651760" cy="3657600"/>
          </a:xfrm>
          <a:prstGeom prst="roundRect">
            <a:avLst/>
          </a:prstGeom>
          <a:solidFill>
            <a:srgbClr val="141923"/>
          </a:solidFill>
          <a:ln w="9525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2286000"/>
            <a:ext cx="2651760" cy="10972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606040"/>
            <a:ext cx="2651760" cy="457200"/>
          </a:xfrm>
          <a:prstGeom prst="rect">
            <a:avLst/>
          </a:prstGeom>
          <a:noFill/>
        </p:spPr>
        <p:txBody>
          <a:bodyPr wrap="none" lIns="182880" rIns="182880" tIns="0">
            <a:spAutoFit/>
          </a:bodyPr>
          <a:lstStyle/>
          <a:p>
            <a:r>
              <a:rPr sz="2000" b="1">
                <a:solidFill>
                  <a:srgbClr val="FB7185"/>
                </a:solidFill>
                <a:latin typeface="Helvetica Neue"/>
              </a:rPr>
              <a:t>WEBHOOKS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200400"/>
            <a:ext cx="2651760" cy="822960"/>
          </a:xfrm>
          <a:prstGeom prst="rect">
            <a:avLst/>
          </a:prstGeom>
          <a:noFill/>
        </p:spPr>
        <p:txBody>
          <a:bodyPr wrap="none" lIns="182880" rIns="182880" tIns="0">
            <a:spAutoFit/>
          </a:bodyPr>
          <a:lstStyle/>
          <a:p>
            <a:r>
              <a:rPr sz="1500" i="1">
                <a:solidFill>
                  <a:srgbClr val="E5E7EB"/>
                </a:solidFill>
                <a:latin typeface="Helvetica Neue"/>
              </a:rPr>
              <a:t>Don't call us,</a:t>
            </a:r>
          </a:p>
          <a:p>
            <a:r>
              <a:rPr sz="1500" i="1">
                <a:solidFill>
                  <a:srgbClr val="E5E7EB"/>
                </a:solidFill>
                <a:latin typeface="Helvetica Neue"/>
              </a:rPr>
              <a:t>we'll call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297680"/>
            <a:ext cx="2651760" cy="1554480"/>
          </a:xfrm>
          <a:prstGeom prst="rect">
            <a:avLst/>
          </a:prstGeom>
          <a:noFill/>
        </p:spPr>
        <p:txBody>
          <a:bodyPr wrap="square" lIns="182880" rIns="182880" tIns="0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External server POSTs to your URL when something happens. Server-to-server.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286000"/>
            <a:ext cx="2651760" cy="3657600"/>
          </a:xfrm>
          <a:prstGeom prst="roundRect">
            <a:avLst/>
          </a:prstGeom>
          <a:solidFill>
            <a:srgbClr val="141923"/>
          </a:solidFill>
          <a:ln w="9525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2286000"/>
            <a:ext cx="2651760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606040"/>
            <a:ext cx="2651760" cy="457200"/>
          </a:xfrm>
          <a:prstGeom prst="rect">
            <a:avLst/>
          </a:prstGeom>
          <a:noFill/>
        </p:spPr>
        <p:txBody>
          <a:bodyPr wrap="none" lIns="182880" rIns="182880" tIns="0">
            <a:spAutoFit/>
          </a:bodyPr>
          <a:lstStyle/>
          <a:p>
            <a:r>
              <a:rPr sz="2000" b="1">
                <a:solidFill>
                  <a:srgbClr val="4ADE80"/>
                </a:solidFill>
                <a:latin typeface="Helvetica Neue"/>
              </a:rPr>
              <a:t>SSE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00400"/>
            <a:ext cx="2651760" cy="822960"/>
          </a:xfrm>
          <a:prstGeom prst="rect">
            <a:avLst/>
          </a:prstGeom>
          <a:noFill/>
        </p:spPr>
        <p:txBody>
          <a:bodyPr wrap="none" lIns="182880" rIns="182880" tIns="0">
            <a:spAutoFit/>
          </a:bodyPr>
          <a:lstStyle/>
          <a:p>
            <a:r>
              <a:rPr sz="1500" i="1">
                <a:solidFill>
                  <a:srgbClr val="E5E7EB"/>
                </a:solidFill>
                <a:latin typeface="Helvetica Neue"/>
              </a:rPr>
              <a:t>Tune in.</a:t>
            </a:r>
          </a:p>
          <a:p>
            <a:r>
              <a:rPr sz="1500" i="1">
                <a:solidFill>
                  <a:srgbClr val="E5E7EB"/>
                </a:solidFill>
                <a:latin typeface="Helvetica Neue"/>
              </a:rPr>
              <a:t>Server broadcasts.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297680"/>
            <a:ext cx="2651760" cy="1554480"/>
          </a:xfrm>
          <a:prstGeom prst="rect">
            <a:avLst/>
          </a:prstGeom>
          <a:noFill/>
        </p:spPr>
        <p:txBody>
          <a:bodyPr wrap="square" lIns="182880" rIns="182880" tIns="0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Server holds one HTTP connection and pushes events. Browser-native. One-way.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286000"/>
            <a:ext cx="2651760" cy="3657600"/>
          </a:xfrm>
          <a:prstGeom prst="roundRect">
            <a:avLst/>
          </a:prstGeom>
          <a:solidFill>
            <a:srgbClr val="141923"/>
          </a:solidFill>
          <a:ln w="9525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2286000"/>
            <a:ext cx="2651760" cy="10972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2606040"/>
            <a:ext cx="2651760" cy="457200"/>
          </a:xfrm>
          <a:prstGeom prst="rect">
            <a:avLst/>
          </a:prstGeom>
          <a:noFill/>
        </p:spPr>
        <p:txBody>
          <a:bodyPr wrap="none" lIns="182880" rIns="182880" tIns="0">
            <a:spAutoFit/>
          </a:bodyPr>
          <a:lstStyle/>
          <a:p>
            <a:r>
              <a:rPr sz="2000" b="1">
                <a:solidFill>
                  <a:srgbClr val="60A5FA"/>
                </a:solidFill>
                <a:latin typeface="Helvetica Neue"/>
              </a:rPr>
              <a:t>WEBSOCKETS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200400"/>
            <a:ext cx="2651760" cy="822960"/>
          </a:xfrm>
          <a:prstGeom prst="rect">
            <a:avLst/>
          </a:prstGeom>
          <a:noFill/>
        </p:spPr>
        <p:txBody>
          <a:bodyPr wrap="none" lIns="182880" rIns="182880" tIns="0">
            <a:spAutoFit/>
          </a:bodyPr>
          <a:lstStyle/>
          <a:p>
            <a:r>
              <a:rPr sz="1500" i="1">
                <a:solidFill>
                  <a:srgbClr val="E5E7EB"/>
                </a:solidFill>
                <a:latin typeface="Helvetica Neue"/>
              </a:rPr>
              <a:t>Open a phone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4297680"/>
            <a:ext cx="2651760" cy="1554480"/>
          </a:xfrm>
          <a:prstGeom prst="rect">
            <a:avLst/>
          </a:prstGeom>
          <a:noFill/>
        </p:spPr>
        <p:txBody>
          <a:bodyPr wrap="square" lIns="182880" rIns="182880" tIns="0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Persistent, bidirectional, low-overhead. Use only when you really need two-way.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E5E7EB"/>
                </a:solidFill>
                <a:latin typeface="Helvetica Neue"/>
              </a:rPr>
              <a:t>Polling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BBF24"/>
                </a:solidFill>
                <a:latin typeface="Helvetica Neue"/>
              </a:rPr>
              <a:t>SECTION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A0A8B8"/>
                </a:solidFill>
                <a:latin typeface="Helvetica Neue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Short polling - the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Client asks on a timer. Server immediately returns whatever it has.</a:t>
            </a:r>
          </a:p>
        </p:txBody>
      </p:sp>
      <p:pic>
        <p:nvPicPr>
          <p:cNvPr id="7" name="Picture 6" descr="02_short_po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840" y="2331720"/>
            <a:ext cx="5280015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BBF24"/>
                </a:solidFill>
                <a:latin typeface="Helvetica Neue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Raj refreshing his Swiggy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The kid in the back seat. 'Are we there yet?'  Most refreshes return the same status.</a:t>
            </a:r>
          </a:p>
        </p:txBody>
      </p:sp>
      <p:pic>
        <p:nvPicPr>
          <p:cNvPr id="7" name="Picture 6" descr="p_polling_swig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430" y="2331720"/>
            <a:ext cx="9202835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A0A8B8"/>
                </a:solidFill>
                <a:latin typeface="Helvetica Neue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Long polling - the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Server holds the request open until data is ready (or timeout). One held connection per client.</a:t>
            </a:r>
          </a:p>
        </p:txBody>
      </p:sp>
      <p:pic>
        <p:nvPicPr>
          <p:cNvPr id="7" name="Picture 6" descr="03_long_po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7230" y="2331720"/>
            <a:ext cx="5577234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BBF24"/>
                </a:solidFill>
                <a:latin typeface="Helvetica Neue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Raj waits for an Uber driver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One held request. The server replies the moment a driver accepts. No wasted polls.</a:t>
            </a:r>
          </a:p>
        </p:txBody>
      </p:sp>
      <p:pic>
        <p:nvPicPr>
          <p:cNvPr id="7" name="Picture 6" descr="p_long_polling_u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527" y="2331720"/>
            <a:ext cx="9212641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Short polling in 18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The whole pattern - client setInterval, server returns current state.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486400" cy="402336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client.js  (8 lines)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5029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Menlo"/>
              </a:rPr>
              <a:t>let last = null;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const id = setInterval(async () =&gt; {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const r = await fetch(`/orders/${o}/status`);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const { status } = await r.json();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if (status !== last) {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  updateUI(status);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  last = status;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}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if (status === "delivered") clearInterval(id);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}, 3000);   // poll every 3 seconds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86000"/>
            <a:ext cx="5486400" cy="402336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231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Helvetica Neue"/>
              </a:rPr>
              <a:t>server.py  (4 lines)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80360"/>
            <a:ext cx="5029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Menlo"/>
              </a:rPr>
              <a:t>@app.get("/orders/{order_id}/status")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def get_status(order_id: int):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  order = db.get_order(order_id)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  return {"status": order.status}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The hidden cost of short polling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Raj's order: 25 minutes, status changes 5 times, polled every 3 seconds.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3657600" cy="146304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600" b="1">
                <a:solidFill>
                  <a:srgbClr val="E5E7EB"/>
                </a:solidFill>
                <a:latin typeface="Helvetica Neue"/>
              </a:rPr>
              <a:t>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A0A8B8"/>
                </a:solidFill>
                <a:latin typeface="Helvetica Neue"/>
              </a:rPr>
              <a:t>polls fired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468880"/>
            <a:ext cx="3657600" cy="146304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265176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600" b="1">
                <a:solidFill>
                  <a:srgbClr val="4ADE80"/>
                </a:solidFill>
                <a:latin typeface="Helvetica Neue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4290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A0A8B8"/>
                </a:solidFill>
                <a:latin typeface="Helvetica Neue"/>
              </a:rPr>
              <a:t>actually meaningful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468880"/>
            <a:ext cx="3657600" cy="146304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65176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600" b="1">
                <a:solidFill>
                  <a:srgbClr val="FB7185"/>
                </a:solidFill>
                <a:latin typeface="Helvetica Neue"/>
              </a:rPr>
              <a:t>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4290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A0A8B8"/>
                </a:solidFill>
                <a:latin typeface="Helvetica Neue"/>
              </a:rPr>
              <a:t>wasted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9768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800" b="0" i="0">
                <a:solidFill>
                  <a:srgbClr val="E5E7EB"/>
                </a:solidFill>
                <a:latin typeface="Helvetica Neue"/>
              </a:rPr>
              <a:t>Now multiply by 10,000 concurrent customers:</a:t>
            </a:r>
          </a:p>
          <a:p>
            <a:pPr algn="ctr"/>
            <a:r>
              <a:rPr sz="1800" b="0" i="0">
                <a:solidFill>
                  <a:srgbClr val="E5E7EB"/>
                </a:solidFill>
                <a:latin typeface="Helvetica Neue"/>
              </a:rPr>
              <a:t>5,000,000 HTTP requests per hour just to track order statuses.</a:t>
            </a:r>
          </a:p>
          <a:p>
            <a:pPr algn="ctr"/>
            <a:r>
              <a:rPr sz="1800" b="0" i="0">
                <a:solidFill>
                  <a:srgbClr val="E5E7EB"/>
                </a:solidFill>
                <a:latin typeface="Helvetica Neue"/>
              </a:rPr>
              <a:t>99% of them returned nothing useful.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i="1">
                <a:solidFill>
                  <a:srgbClr val="67E8F9"/>
                </a:solidFill>
                <a:latin typeface="Helvetica Neue"/>
              </a:rPr>
              <a:t>Lower interval -&gt; smoother UX, higher cost.    Raise interval -&gt; cheaper, laggy.    You cannot win both.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Making polling cheaper without changing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Six tricks that cut waste 10x. Use them ALL before you reach for SSE.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10972800" cy="5486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42032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1. Cursor / since= parameter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542032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Send the last-seen id so the server returns only deltas.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08960"/>
            <a:ext cx="10972800" cy="5486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82112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2. ETag + If-None-Match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82112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Server returns 304 with empty body when nothing changed. Bandwidth -&gt; ~zero.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40"/>
            <a:ext cx="10972800" cy="5486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22192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3. Exponential backoff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822192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If five polls in a row return empty, slow down. Reset on activity.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10972800" cy="5486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62272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4. Jitter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462272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Add +-10% random offset so 10K clients don't sync up and DDoS you.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29200"/>
            <a:ext cx="10972800" cy="5486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02352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5. Pause when invisible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102352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Page Visibility API. No point polling for a tab no one's looking at.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669280"/>
            <a:ext cx="10972800" cy="5486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42432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6. Conditional auth caching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742432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Don't hit your auth DB on every poll. JWT verify in-process is fine.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Polling bugs you'll hit, and the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Every team rediscovers these. Save yourself the outage.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10972800" cy="713232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'Data never updates' even though server has new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Browser or CDN cached your GET. Add Cache-Control: no-store, or ?t=&lt;ts&gt; cache-buster.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55264"/>
            <a:ext cx="10972800" cy="713232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46704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Long-poll times out at 30s even though you set 60s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21024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A proxy or LB has a shorter idle timeout. Set server &lt; LB always.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41648"/>
            <a:ext cx="10972800" cy="713232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3308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Worked in dev, exploded in prod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0740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Dev had 1 user; prod has 10K. Add per-endpoint req/sec and DB query metrics; you'll see the N+1.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28032"/>
            <a:ext cx="10972800" cy="713232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91947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Polling continues after tab closes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93792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Forgot to clearInterval on unmount/visibilitychange. Always pair start with stop.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614416"/>
            <a:ext cx="10972800" cy="713232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705856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UI shows duplicate notifications on every poll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80176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Missing cursor; you're re-fetching the whole list. Add ?since=&lt;last_id&gt;.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When polling IS the right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It is fashionable to roll eyes at polling. Resist. Big companies use it for the right things.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11091672" cy="566928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32304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Talking to an external API you don't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8833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OpenAI Batch / Fine-tuning, S3 Glacier, AWS Lambda async invokes - all polled because they don't push to you.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17520"/>
            <a:ext cx="11091672" cy="566928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072384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The thing you're checking changes rarely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2841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A nightly batch job. Polling every minute is 60 reqs; SSE would be overkill.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57600"/>
            <a:ext cx="11091672" cy="566928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12464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Cost of being a few seconds stale is 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6849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A dashboard of yesterday's sales numbers. Nobody's watching it tick.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97680"/>
            <a:ext cx="11091672" cy="566928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52544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You have very few clients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0857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Internal admin tool used by 5 people. 500 polls/hour is rounding-noise.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937760"/>
            <a:ext cx="11091672" cy="566928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92624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Platform / network kills long-lived connections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24865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Corporate proxies, iOS background fetch, aggressive serverless idle timeouts.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77840"/>
            <a:ext cx="11091672" cy="566928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32704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You're shipping in three days, alone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8873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Polling is the only pattern you can build, test, deploy, and debug in an afternoon.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When polling is the right call (and when it isn't)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It's not always wrong. Just usually mis-used.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394960" cy="36576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4ADE80"/>
                </a:solidFill>
                <a:latin typeface="Helvetica Neue"/>
              </a:rPr>
              <a:t>Use polling 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4937760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Updates are rare and a few seconds stale is fine</a:t>
            </a:r>
          </a:p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You're calling someone else's API that only supports REST</a:t>
            </a:r>
          </a:p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Total clients &lt; 100; engineering cost matters more than waste</a:t>
            </a:r>
          </a:p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You need to ship in an afternoon</a:t>
            </a:r>
          </a:p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Status checks for slow background jobs (batch reports, fine-tunes)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68880"/>
            <a:ext cx="5394960" cy="36576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B7185"/>
                </a:solidFill>
                <a:latin typeface="Helvetica Neue"/>
              </a:rPr>
              <a:t>Don't poll when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246120"/>
            <a:ext cx="4937760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The UI must feel live (chat, typing, multiplayer, game)</a:t>
            </a:r>
          </a:p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You have 10k+ mostly-idle clients (millions of empty requests)</a:t>
            </a:r>
          </a:p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You'd be polling at 10+ Hz - just use SSE</a:t>
            </a:r>
          </a:p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You're hitting someone else's rate-limited API quota</a:t>
            </a:r>
          </a:p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The source already supports webhooks; just use those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E5E7EB"/>
                </a:solidFill>
                <a:latin typeface="Helvetica Neue"/>
              </a:rPr>
              <a:t>Webhooks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B7185"/>
                </a:solidFill>
                <a:latin typeface="Helvetica Neue"/>
              </a:rPr>
              <a:t>SECTION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A0A8B8"/>
                </a:solidFill>
                <a:latin typeface="Helvetica Neue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Webhook - the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Third-party server POSTs to YOUR URL when something happens. Zero idle traffic.</a:t>
            </a:r>
          </a:p>
        </p:txBody>
      </p:sp>
      <p:pic>
        <p:nvPicPr>
          <p:cNvPr id="7" name="Picture 6" descr="05_webhook_ba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539" y="2331720"/>
            <a:ext cx="6814616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B7185"/>
                </a:solidFill>
                <a:latin typeface="Helvetica Neue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Stripe pays for Raj's biryani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Stripe is the source of truth. They tell Maya's backend when the card cleared.</a:t>
            </a:r>
          </a:p>
        </p:txBody>
      </p:sp>
      <p:pic>
        <p:nvPicPr>
          <p:cNvPr id="7" name="Picture 6" descr="p_webhook_str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3964" y="2331720"/>
            <a:ext cx="8363767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The role flip - webhooks are just inverted polling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Same HTTP. Same servers. Just swap who is the client and who is the server.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5486400" cy="329184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BBF24"/>
                </a:solidFill>
                <a:latin typeface="Helvetica Neue"/>
              </a:rPr>
              <a:t>POLLING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493776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YOU are the client.</a:t>
            </a:r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THEY are the server.</a:t>
            </a:r>
          </a:p>
          <a:p>
            <a:pPr algn="l"/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You ASK them.</a:t>
            </a:r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  GET /payments/recent</a:t>
            </a:r>
          </a:p>
          <a:p>
            <a:pPr algn="l"/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  GET /payments/recent</a:t>
            </a:r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  GET /payments/recent</a:t>
            </a:r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  GET /payments/recent</a:t>
            </a:r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  GET 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377440"/>
            <a:ext cx="5486400" cy="329184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B7185"/>
                </a:solidFill>
                <a:latin typeface="Helvetica Neue"/>
              </a:rPr>
              <a:t>WEBHOOK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154680"/>
            <a:ext cx="493776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THEY are the client.</a:t>
            </a:r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YOU are the server.</a:t>
            </a:r>
          </a:p>
          <a:p>
            <a:pPr algn="l"/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They POST you (when it happens).</a:t>
            </a:r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  POST /webhooks/stripe</a:t>
            </a:r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  { type: payment.succeeded, ... }</a:t>
            </a:r>
          </a:p>
          <a:p>
            <a:pPr algn="l"/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  (silence ... silence ...)</a:t>
            </a:r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  POST /webhooks/stripe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500" b="1" i="0">
                <a:solidFill>
                  <a:srgbClr val="67E8F9"/>
                </a:solidFill>
                <a:latin typeface="Helvetica Neue"/>
              </a:rPr>
              <a:t>That role flip is the entire idea behind webhooks.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Webhook payload 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Stripe shape, but every provider follows the same outline.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0972800" cy="365760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051560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Menlo"/>
              </a:rPr>
              <a:t>{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"id":          "evt_1NXY2bAB4tH...",        # unique event id - USE THIS FOR DEDUP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"type":        "payment_intent.succeeded",  # what happened - your switch statement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"created":     1700000000,                  # timestamp - useful for ordering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"data": {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  "object": {                               # the resource at event-fire moment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    "id":        "pi_3NXY...",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    "amount":    5000,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    "currency":  "usd",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    "customer":  "cus_abc123",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    "metadata":  { "order_id": "order_789" }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  }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},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"livemode":    true,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"api_version": "2023-10-16"                 # sender's API version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 i="0">
                <a:solidFill>
                  <a:srgbClr val="A0A8B8"/>
                </a:solidFill>
                <a:latin typeface="Helvetica Neue"/>
              </a:rPr>
              <a:t>Don't assume metadata fields you didn't set are present. Defensive parsing pays off.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The four rules of webhook receivers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Skip any one and you'll have very interesting outages.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10972800" cy="91440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B7185"/>
                </a:solidFill>
                <a:latin typeface="Helvetica Neue"/>
              </a:rPr>
              <a:t>1. Return 2xx fast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Don't do work in the handler. Verify, queue, return 200. Stripe times out at 5-10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10972800" cy="91440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6118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B7185"/>
                </a:solidFill>
                <a:latin typeface="Helvetica Neue"/>
              </a:rPr>
              <a:t>2. Verify the signature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HMAC-SHA256 of the body, constant-time compare. Without this, anyone can fake events.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10972800" cy="91440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6177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B7185"/>
                </a:solidFill>
                <a:latin typeface="Helvetica Neue"/>
              </a:rPr>
              <a:t>3. Dedup by event 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37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Senders sometimes deliver twice. Without dedup, you'll double-charge cards.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0972800" cy="91440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B7185"/>
                </a:solidFill>
                <a:latin typeface="Helvetica Neue"/>
              </a:rPr>
              <a:t>4. Return 200 (not 5xx) for events you don't care about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5xx triggers retries forever. Log + 200 is the right answer for noise.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Retries and idempotent dedup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Same event id arriving twice is normal. Be ready.</a:t>
            </a:r>
          </a:p>
        </p:txBody>
      </p:sp>
      <p:pic>
        <p:nvPicPr>
          <p:cNvPr id="6" name="Picture 5" descr="06_webhook_re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8412" y="2331720"/>
            <a:ext cx="533487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Signature verification - HMAC-SHA256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The one thing standing between your webhook URL and fake events.</a:t>
            </a:r>
          </a:p>
        </p:txBody>
      </p:sp>
      <p:pic>
        <p:nvPicPr>
          <p:cNvPr id="6" name="Picture 5" descr="07_webhook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389" y="2331720"/>
            <a:ext cx="6460916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A production-shape Stripe receiver (FastAPI, 22 lines)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Verify, dedup, enqueue, return 200. Everything else happens in a worker.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0972800" cy="40233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05156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Menlo"/>
              </a:rPr>
              <a:t>import hmac, hashlib, json, os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from fastapi import FastAPI, Request, HTTPException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app = FastAPI()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SECRET = os.environ["STRIPE_WEBHOOK_SECRET"]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seen = set()                                  # in prod: Redis SET with TTL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def verify(body: bytes, header: str) -&gt; bool: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parts  = dict(p.split("=", 1) for p in header.split(","))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signed = f"{parts['t']}.{body.decode()}".encode()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expect = hmac.new(SECRET.encode(), signed, hashlib.sha256).hexdigest()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return hmac.compare_digest(expect, parts["v1"])     # constant-time!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@app.post("/webhooks/stripe")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async def stripe_webhook(req: Request):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body = await req.body()                   # RAW bytes, not parsed JSON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if not verify(body, req.headers.get("stripe-signature", "")):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    raise HTTPException(401, "bad signature")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event = json.loads(body)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if event["id"] in seen:                   # dedup BEFORE enqueue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    return {"received": True, "duplicate": True}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seen.add(event["id"])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await queue.put(event)                    # the real work happens elsewhere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return {"received": True}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Testing webhooks locally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Stripe can't reach localhost:8000. Here's how to bridge.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10972800" cy="10515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B7185"/>
                </a:solidFill>
                <a:latin typeface="Helvetica Neue"/>
              </a:rPr>
              <a:t>webhook.site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6517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A0A8B8"/>
                </a:solidFill>
                <a:latin typeface="Helvetica Neue"/>
              </a:rPr>
              <a:t>look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Visit https://webhook.site, get a unique URL, paste into Stripe. Sees every request in a dashboard. Can't run YOUR code against it but great for inspecting payloads.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11880"/>
            <a:ext cx="10972800" cy="10515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4904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B7185"/>
                </a:solidFill>
                <a:latin typeface="Helvetica Neue"/>
              </a:rPr>
              <a:t>ngrok / Cloudflare Tunnel / Tailscale Funnel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7947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A0A8B8"/>
                </a:solidFill>
                <a:latin typeface="Helvetica Neue"/>
              </a:rPr>
              <a:t>tunnel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114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ngrok http 8000 -&gt; public URL forwarding to localhost. Combined with the ngrok web inspector (localhost:4040) you can see + replay every request.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54880"/>
            <a:ext cx="10972800" cy="10515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B7185"/>
                </a:solidFill>
                <a:latin typeface="Helvetica Neue"/>
              </a:rPr>
              <a:t>Stripe CLI (or provider equivalent)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9377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A0A8B8"/>
                </a:solidFill>
                <a:latin typeface="Helvetica Neue"/>
              </a:rPr>
              <a:t>real events, no tunnel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57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stripe listen --forward-to localhost:8000/webhooks/stripe.  Forwards real test webhook events from your Stripe account straight to localhost. Handles signature setup.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If you're the SENDER (offering webhooks to customers)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The other side of the table. Same rules, mirrored.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400">
                <a:solidFill>
                  <a:srgbClr val="E5E7EB"/>
                </a:solidFill>
                <a:latin typeface="Helvetica Neue"/>
              </a:rPr>
              <a:t>Make registration first-class. UI + API to register URLs, multiple URLs per account, filter by event type.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400">
                <a:solidFill>
                  <a:srgbClr val="E5E7EB"/>
                </a:solidFill>
                <a:latin typeface="Helvetica Neue"/>
              </a:rPr>
              <a:t>Sign every payload. Per-customer signing secret. Document the algorithm and rotation flow.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400">
                <a:solidFill>
                  <a:srgbClr val="E5E7EB"/>
                </a:solidFill>
                <a:latin typeface="Helvetica Neue"/>
              </a:rPr>
              <a:t>Include a timestamp in the signed payload (defeats replay attacks).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400">
                <a:solidFill>
                  <a:srgbClr val="E5E7EB"/>
                </a:solidFill>
                <a:latin typeface="Helvetica Neue"/>
              </a:rPr>
              <a:t>Retry with backoff. Standard schedule: 1m, 5m, 15m, 1h, 6h, 12h. Give up after ~24h, mark endpoint disabled.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400">
                <a:solidFill>
                  <a:srgbClr val="E5E7EB"/>
                </a:solidFill>
                <a:latin typeface="Helvetica Neue"/>
              </a:rPr>
              <a:t>Provide a 'Send test event' button in the dashboard - your customers will use it constantly.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400">
                <a:solidFill>
                  <a:srgbClr val="E5E7EB"/>
                </a:solidFill>
                <a:latin typeface="Helvetica Neue"/>
              </a:rPr>
              <a:t>Maintain a delivery log: last 100 deliveries, status codes, response times, response bodies. Invaluable for support.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400">
                <a:solidFill>
                  <a:srgbClr val="E5E7EB"/>
                </a:solidFill>
                <a:latin typeface="Helvetica Neue"/>
              </a:rPr>
              <a:t>Build internal rate limits. A bug that fires 1M duplicate webhooks tonight = 1M customer outages.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Webhooks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Once you know to look, you see them everywhere.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1091672" cy="420624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0487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Stripe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404872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payments, refunds, disputes, subscriptions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11091672" cy="420624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6207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862072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pull requests, pushes, issues, deployments - powers every CI system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46120"/>
            <a:ext cx="11091672" cy="420624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1927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Slack Events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19272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messages, channel events, reactions - how every chat bot works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11091672" cy="420624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7647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Twilio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776472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incoming SMS / call events / delivery status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160520"/>
            <a:ext cx="11091672" cy="420624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23367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Calendly / Cal.com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233672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meeting booked, cancelled, rescheduled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17720"/>
            <a:ext cx="11091672" cy="420624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9087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Shopify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690872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orders, inventory updates, abandoned carts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74920"/>
            <a:ext cx="11091672" cy="420624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4807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Auth0 / Clerk / Supabase Auth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5148072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user signed up, password changed, MFA enabled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532120"/>
            <a:ext cx="11091672" cy="420624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60527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OpenAI Batch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605272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when a batch job finishes (newer services do this)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9320"/>
            <a:ext cx="11091672" cy="420624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06247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Your own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062472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any time customers ask 'can you POST when X happens?'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35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E5E7EB"/>
                </a:solidFill>
                <a:latin typeface="Helvetica Neue"/>
              </a:rPr>
              <a:t>Server-Sent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4ADE80"/>
                </a:solidFill>
                <a:latin typeface="Helvetica Neue"/>
              </a:rPr>
              <a:t>SECTION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A0A8B8"/>
                </a:solidFill>
                <a:latin typeface="Helvetica Neue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SSE - the wire format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One HTTP connection. Server streams labelled events; client reads as they arrive.</a:t>
            </a:r>
          </a:p>
        </p:txBody>
      </p:sp>
      <p:pic>
        <p:nvPicPr>
          <p:cNvPr id="7" name="Picture 6" descr="08_sse_ba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856" y="2331720"/>
            <a:ext cx="6121982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4ADE80"/>
                </a:solidFill>
                <a:latin typeface="Helvetica Neue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Raj watching his order status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Server pushes 'paid -&gt; cooking -&gt; out for delivery -&gt; delivered' as events. Zero polling.</a:t>
            </a:r>
          </a:p>
        </p:txBody>
      </p:sp>
      <p:pic>
        <p:nvPicPr>
          <p:cNvPr id="7" name="Picture 6" descr="p_sse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430" y="2331720"/>
            <a:ext cx="9202835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A0A8B8"/>
                </a:solidFill>
                <a:latin typeface="Helvetica Neue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Auto-reconnect with Last-Event-ID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Connection drops? Browser reconnects and tells the server what it last saw. Server resumes.</a:t>
            </a:r>
          </a:p>
        </p:txBody>
      </p:sp>
      <p:pic>
        <p:nvPicPr>
          <p:cNvPr id="7" name="Picture 6" descr="09_sse_reconn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8020" y="2331720"/>
            <a:ext cx="5215655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4ADE80"/>
                </a:solidFill>
                <a:latin typeface="Helvetica Neue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Streaming an LLM response (the ChatGPT pattern)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Backend proxies OpenAI's SSE stream as SSE to the browser. Same wire format both sides.</a:t>
            </a:r>
          </a:p>
        </p:txBody>
      </p:sp>
      <p:pic>
        <p:nvPicPr>
          <p:cNvPr id="7" name="Picture 6" descr="p_sse_l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2331720"/>
            <a:ext cx="10972800" cy="31702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The SSE grammar - all of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Five fields plus a blank line. That's the protocol in full.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0972800" cy="42062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051560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Menlo"/>
              </a:rPr>
              <a:t>event: &lt;event-type&gt;      optional, default 'message'.  JS addEventListener key.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id: &lt;event-id&gt;           optional. Browser remembers; sends as Last-Event-ID on reconnect.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retry: &lt;ms&gt;              optional. Tells browser the reconnect delay.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data: &lt;line of payload&gt;  can repeat; multiple data: lines join with '\n'.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:&lt;comment&gt;               ignored by client. Use to send keep-alive pings.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                       &lt;- BLANK LINE ends this event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Examples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--------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data: hello                              # simplest possible event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event: token                             # named event with JSON payload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data: {"text": "Vada"}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id: 42                                   # with id - enables Last-Event-ID resume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event: chunk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data: {"text": " Pav"}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 : keep-alive ping                        # comment - keeps proxies from closing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EventSource - the browser's SSE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Three handlers, one close. The browser does parsing, reconnecting, Last-Event-ID.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0972800" cy="23774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05156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Menlo"/>
              </a:rPr>
              <a:t>const es = new EventSource('/api/stream');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es.onmessage = (e) =&gt; console.log('default event:', e.data);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es.addEventListener('token', (e) =&gt; {                   // NAMED event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const { text } = JSON.parse(e.data);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appendToken(text);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});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es.onopen  = () =&gt; console.log('connected');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es.onerror = () =&gt; console.log('error or reconnecting');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es.close();   // otherwise it auto-reconnects forever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5486400" cy="1554480"/>
          </a:xfrm>
          <a:prstGeom prst="roundRect">
            <a:avLst/>
          </a:prstGeom>
          <a:solidFill>
            <a:srgbClr val="141923"/>
          </a:solidFill>
          <a:ln w="1524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Helvetica Neue"/>
              </a:rPr>
              <a:t>FREE from EventSource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·  Auto-reconnect on dropped 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321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·  Last-Event-ID sent on reconnect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·  Built into every modern browser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4800600"/>
            <a:ext cx="5486400" cy="1554480"/>
          </a:xfrm>
          <a:prstGeom prst="roundRect">
            <a:avLst/>
          </a:prstGeom>
          <a:solidFill>
            <a:srgbClr val="141923"/>
          </a:solidFill>
          <a:ln w="1524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4892040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NOT included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52120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·  Custom headers (no Authorization: Bearer ...)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55321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·  Binary frames (text only)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585216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·  Way to send data back (use fetch POST)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Minimal SSE endpoint (FastAPI)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A generator yields events. StreamingResponse pipes them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0972800" cy="40233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05156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Menlo"/>
              </a:rPr>
              <a:t>from fastapi import FastAPI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from fastapi.responses import StreamingResponse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import asyncio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app = FastAPI()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@app.get("/stream")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async def stream():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  async def gen():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      for i in range(10):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          yield f"data: chunk {i}\n\n"      # double-\n ends each event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          await asyncio.sleep(1)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      yield "event: done\ndata: complete\n\n"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/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  return StreamingResponse(gen(), media_type="text/event-stream", headers={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      "Cache-Control":     "no-cache, no-transform",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      "X-Accel-Buffering": "no",              # disable nginx buffering</a:t>
            </a:r>
          </a:p>
          <a:p>
            <a:r>
              <a:rPr sz="1300">
                <a:solidFill>
                  <a:srgbClr val="E5E7EB"/>
                </a:solidFill>
                <a:latin typeface="Menlo"/>
              </a:rPr>
              <a:t>    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Three MUSTs and three SHOULDs for an SSE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Get these right and your SSE endpoint behaves the same in dev and prod.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5486400" cy="41148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4ADE80"/>
                </a:solidFill>
                <a:latin typeface="Helvetica Neue"/>
              </a:rPr>
              <a:t>MUST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E7EB"/>
                </a:solidFill>
                <a:latin typeface="Helvetica Neue"/>
              </a:rPr>
              <a:t>Set Content-Type: text/event-stream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0A8B8"/>
                </a:solidFill>
                <a:latin typeface="Helvetica Neue"/>
              </a:rPr>
              <a:t>How the browser knows to keep the connection open and parse the body as events.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05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E7EB"/>
                </a:solidFill>
                <a:latin typeface="Helvetica Neue"/>
              </a:rPr>
              <a:t>End every event with \n\n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805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0A8B8"/>
                </a:solidFill>
                <a:latin typeface="Helvetica Neue"/>
              </a:rPr>
              <a:t>Blank line tells the client 'this event is complete'. Forget it and the client waits forever.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2578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E7EB"/>
                </a:solidFill>
                <a:latin typeface="Helvetica Neue"/>
              </a:rPr>
              <a:t>Disable proxy buffering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577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0A8B8"/>
                </a:solidFill>
                <a:latin typeface="Helvetica Neue"/>
              </a:rPr>
              <a:t>X-Accel-Buffering: no for nginx; check LB docs for others. Without this, your stream batches at the proxy.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331720"/>
            <a:ext cx="5486400" cy="41148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251460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7E8F9"/>
                </a:solidFill>
                <a:latin typeface="Helvetica Neue"/>
              </a:rPr>
              <a:t>SHOULD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3063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E7EB"/>
                </a:solidFill>
                <a:latin typeface="Helvetica Neue"/>
              </a:rPr>
              <a:t>Send keep-alives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3832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0A8B8"/>
                </a:solidFill>
                <a:latin typeface="Helvetica Neue"/>
              </a:rPr>
              <a:t>Every 15-30s send ': ping\n\n'. Stops proxies/LB from dropping the idle line.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41605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E7EB"/>
                </a:solidFill>
                <a:latin typeface="Helvetica Neue"/>
              </a:rPr>
              <a:t>Cache-Control: no-cache, no-transform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4805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0A8B8"/>
                </a:solidFill>
                <a:latin typeface="Helvetica Neue"/>
              </a:rPr>
              <a:t>Stops any layer from caching the response.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52578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E7EB"/>
                </a:solidFill>
                <a:latin typeface="Helvetica Neue"/>
              </a:rPr>
              <a:t>Don't gzip the stream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5577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0A8B8"/>
                </a:solidFill>
                <a:latin typeface="Helvetica Neue"/>
              </a:rPr>
              <a:t>Compression buffers bytes to compress efficiently. Defeats streaming.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Maya picks SSE: who pays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Same 'track my order' feature. Numbers at 10K concurrent customers.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E8F9"/>
                </a:solidFill>
                <a:latin typeface="Helvetica Neue"/>
              </a:rPr>
              <a:t>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37744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BF24"/>
                </a:solidFill>
                <a:latin typeface="Helvetica Neue"/>
              </a:rPr>
              <a:t>POLLING (every 3s)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37744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Helvetica Neue"/>
              </a:rPr>
              <a:t>SSE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0A8B8"/>
                </a:solidFill>
                <a:latin typeface="Helvetica Neue"/>
              </a:rPr>
              <a:t>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8346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0-3 seconds (poll gap)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83464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near zero (push)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290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0A8B8"/>
                </a:solidFill>
                <a:latin typeface="Helvetica Neue"/>
              </a:rPr>
              <a:t>Idle requests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42900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10K every 3s = 3,300/sec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4290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0 - heartbeat ping every 20s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233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0A8B8"/>
                </a:solidFill>
                <a:latin typeface="Helvetica Neue"/>
              </a:rPr>
              <a:t>Server CPU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0233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high - lots of work to say nothing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02336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6177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0A8B8"/>
                </a:solidFill>
                <a:latin typeface="Helvetica Neue"/>
              </a:rPr>
              <a:t>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61772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tiny - stateless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61772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~1 GB at 10K (50-100 KB / open conn)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120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0A8B8"/>
                </a:solidFill>
                <a:latin typeface="Helvetica Neue"/>
              </a:rPr>
              <a:t>User experience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2120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feels laggy on status changes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52120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instant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03504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 i="0">
                <a:solidFill>
                  <a:srgbClr val="67E8F9"/>
                </a:solidFill>
                <a:latin typeface="Helvetica Neue"/>
              </a:rPr>
              <a:t>10K open connections is the SSE sweet spot. Past 100K, plan for a pub-sub backbone.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SSE gotchas every team hits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All recoverable. Knowing them up front saves the all-nighter.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1091672" cy="658368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04872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All events arrive at once at the 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79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A proxy or middleware is buffering. nginx: 'proxy_buffering off' or header 'X-Accel-Buffering: no'. Disable gzip on event-stream endpoints.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44952"/>
            <a:ext cx="11091672" cy="658368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18104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Connection dies after 60s of silence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9242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Idle-killer somewhere (LB, proxy, mobile network). Send ': ping\n\n' every 15-20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58184"/>
            <a:ext cx="11091672" cy="658368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Browser shows 'reconnecting' forever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0565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Server is returning a non-200 status. EventSource keeps retrying but never succeeds. Check server logs and CORS headers.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471416"/>
            <a:ext cx="11091672" cy="658368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544568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Authorization header doesn't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188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EventSource doesn't allow custom headers. Use cookies (best), short-lived URL token, or the event-source-polyfill library.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84648"/>
            <a:ext cx="11091672" cy="658368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Sometimes I get duplicate events after 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Server replay is using &gt;= instead of &gt; the Last-Event-ID. Use strict greater-than.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97880"/>
            <a:ext cx="11091672" cy="658368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971032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Closing the tab leaves connection open server-side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4535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Normal - server only finds out at next heartbeat write. Clean up subscribers in your generator's 'finally' block.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You've used SSE thousands of times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Anywhere you've watched text appear word-by-word in 2023+.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1097280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600">
                <a:solidFill>
                  <a:srgbClr val="E5E7EB"/>
                </a:solidFill>
                <a:latin typeface="Helvetica Neue"/>
              </a:rPr>
              <a:t>ChatGPT, Claude.ai, Gemini chat - the typing animation IS SSE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600">
                <a:solidFill>
                  <a:srgbClr val="E5E7EB"/>
                </a:solidFill>
                <a:latin typeface="Helvetica Neue"/>
              </a:rPr>
              <a:t>Cursor, GitHub Copilot Chat, Continue.dev - same pattern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600">
                <a:solidFill>
                  <a:srgbClr val="E5E7EB"/>
                </a:solidFill>
                <a:latin typeface="Helvetica Neue"/>
              </a:rPr>
              <a:t>OpenAI / Anthropic / Mistral SDKs with stream=True - SSE clients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600">
                <a:solidFill>
                  <a:srgbClr val="E5E7EB"/>
                </a:solidFill>
                <a:latin typeface="Helvetica Neue"/>
              </a:rPr>
              <a:t>Vercel AI SDK useChat hook - SSE client + parser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600">
                <a:solidFill>
                  <a:srgbClr val="E5E7EB"/>
                </a:solidFill>
                <a:latin typeface="Helvetica Neue"/>
              </a:rPr>
              <a:t>Vercel / Render / Netlify deploy logs streaming in browser - SSE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600">
                <a:solidFill>
                  <a:srgbClr val="E5E7EB"/>
                </a:solidFill>
                <a:latin typeface="Helvetica Neue"/>
              </a:rPr>
              <a:t>MCP servers (Claude Desktop tools) - HTTP+SSE / Streamable HTTP transport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600">
                <a:solidFill>
                  <a:srgbClr val="E5E7EB"/>
                </a:solidFill>
                <a:latin typeface="Helvetica Neue"/>
              </a:rPr>
              <a:t>LangSmith and LangFuse trace viewers - 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47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E5E7EB"/>
                </a:solidFill>
                <a:latin typeface="Helvetica Neue"/>
              </a:rPr>
              <a:t>WebSockets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0A5FA"/>
                </a:solidFill>
                <a:latin typeface="Helvetica Neue"/>
              </a:rPr>
              <a:t>SECTION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WEBSOCKET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A0A8B8"/>
                </a:solidFill>
                <a:latin typeface="Helvetica Neue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WebSocket - the handshake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Starts as HTTP. Upgrades to a custom frame protocol on the same TCP. Both sides talk freely.</a:t>
            </a:r>
          </a:p>
        </p:txBody>
      </p:sp>
      <p:pic>
        <p:nvPicPr>
          <p:cNvPr id="7" name="Picture 6" descr="10_websocket_handsh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030" y="2331720"/>
            <a:ext cx="5927634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WEBSOCKET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0A5FA"/>
                </a:solidFill>
                <a:latin typeface="Helvetica Neue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Raj and Sam chat about the buzzer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Both can send anytime. Typing indicators are free. One TCP connection per chat.</a:t>
            </a:r>
          </a:p>
        </p:txBody>
      </p:sp>
      <p:pic>
        <p:nvPicPr>
          <p:cNvPr id="7" name="Picture 6" descr="p_ws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371" y="2331720"/>
            <a:ext cx="10444953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WEBSOCKET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The handshake on the wire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Starts as HTTP. After 101 Switching Protocols, HTTP is gone - frames take over.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5486400" cy="329184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0A5FA"/>
                </a:solidFill>
                <a:latin typeface="Helvetica Neue"/>
              </a:rPr>
              <a:t>Client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5029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Menlo"/>
              </a:rPr>
              <a:t>GET /chat HTTP/1.1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Host: api.liveorder.app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Upgrade: websocket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Connection: Upgrade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Sec-WebSocket-Key: dGhlIHNhbXBsZSBub25jZQ==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Sec-WebSocket-Version: 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331720"/>
            <a:ext cx="5486400" cy="329184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688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Helvetica Neue"/>
              </a:rPr>
              <a:t>Server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926080"/>
            <a:ext cx="5029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Menlo"/>
              </a:rPr>
              <a:t>HTTP/1.1 101 Switching Protocols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Upgrade: websocket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Connection: Upgrade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Sec-WebSocket-Accept: s3pPLMBiTxaQ9kYGzzhZRbK+xOo=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[after this point: WebSocket frames,</a:t>
            </a:r>
          </a:p>
          <a:p>
            <a:r>
              <a:rPr sz="1200">
                <a:solidFill>
                  <a:srgbClr val="E5E7EB"/>
                </a:solidFill>
                <a:latin typeface="Menlo"/>
              </a:rPr>
              <a:t> no more HTTP messages on this TCP socket]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200" b="0" i="0">
                <a:solidFill>
                  <a:srgbClr val="A0A8B8"/>
                </a:solidFill>
                <a:latin typeface="Helvetica Neue"/>
              </a:rPr>
              <a:t>Why the dance? Ports 80/443 are open everywhere; brand-new protocols on new ports get blocked.</a:t>
            </a:r>
          </a:p>
          <a:p>
            <a:pPr algn="ctr"/>
            <a:r>
              <a:rPr sz="1200" b="0" i="0">
                <a:solidFill>
                  <a:srgbClr val="A0A8B8"/>
                </a:solidFill>
                <a:latin typeface="Helvetica Neue"/>
              </a:rPr>
              <a:t>Dress as HTTP, sneak through middleboxes, then upgrade.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WEBSOCKET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WebSocket frames - the unit of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Five frame types. Libraries handle framing for you, but knowing helps debugging.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1091672" cy="64008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0A5FA"/>
                </a:solidFill>
                <a:latin typeface="Helvetica Neue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51460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UTF-8 string. Most chat apps use these with JSON inside.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11091672" cy="64008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C08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84FC"/>
                </a:solidFill>
                <a:latin typeface="Helvetica Neue"/>
              </a:rPr>
              <a:t>Binary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24612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arbitrary bytes. Audio, images, protobuf, msgpack.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11091672" cy="64008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7E8F9"/>
                </a:solidFill>
                <a:latin typeface="Helvetica Neue"/>
              </a:rPr>
              <a:t>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97764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heartbeat. Library usually auto-replies with a Pong.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26280"/>
            <a:ext cx="11091672" cy="64008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70916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7E8F9"/>
                </a:solidFill>
                <a:latin typeface="Helvetica Neue"/>
              </a:rPr>
              <a:t>Pong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70916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reply to a Ping. Used to detect dead-but-not-yet-closed connections.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57800"/>
            <a:ext cx="11091672" cy="64008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44068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B7185"/>
                </a:solidFill>
                <a:latin typeface="Helvetica Neue"/>
              </a:rPr>
              <a:t>Close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544068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graceful shutdown with status code (1000 normal, 1006 abnormal, 1011 server error).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2648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200" b="0" i="0">
                <a:solidFill>
                  <a:srgbClr val="A0A8B8"/>
                </a:solidFill>
                <a:latin typeface="Helvetica Neue"/>
              </a:rPr>
              <a:t>Each frame has: opcode + payload length + (client) mask key + payload bytes. Up to 2^63 bytes per message.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WEBSOCKET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A0A8B8"/>
                </a:solidFill>
                <a:latin typeface="Helvetica Neue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Broadcast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Server tracks connected clients and fans messages out. Across processes, use Redis pub-sub.</a:t>
            </a:r>
          </a:p>
        </p:txBody>
      </p:sp>
      <p:pic>
        <p:nvPicPr>
          <p:cNvPr id="7" name="Picture 6" descr="11_websocket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47" y="2331720"/>
            <a:ext cx="73512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WEBSOCKET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The chat-protocol convention - type +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Most production WS apps use a tiny JSON envelope with a 'type' field both sides agree 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486400" cy="393192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0A5FA"/>
                </a:solidFill>
                <a:latin typeface="Helvetica Neue"/>
              </a:rPr>
              <a:t>CLIENT  -&gt; 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50292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Menlo"/>
              </a:rPr>
              <a:t>{ "type": "join",   "order_id": 123 }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{ "type": "msg",    "text": "I'm in 5C, buzzer broken" }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{ "type": "typing", "is_typing": true }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{ "type": "ping" }                       # heartbeat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86000"/>
            <a:ext cx="5486400" cy="393192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231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Helvetica Neue"/>
              </a:rPr>
              <a:t>SERVER  -&gt;  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80360"/>
            <a:ext cx="50292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5E7EB"/>
                </a:solidFill>
                <a:latin typeface="Menlo"/>
              </a:rPr>
              <a:t>{ "type": "history",  "messages": [...] }     # on join</a:t>
            </a:r>
          </a:p>
          <a:p>
            <a:r>
              <a:rPr sz="1000">
                <a:solidFill>
                  <a:srgbClr val="E5E7EB"/>
                </a:solidFill>
                <a:latin typeface="Menlo"/>
              </a:rPr>
              <a:t> </a:t>
            </a:r>
          </a:p>
          <a:p>
            <a:r>
              <a:rPr sz="1000">
                <a:solidFill>
                  <a:srgbClr val="E5E7EB"/>
                </a:solidFill>
                <a:latin typeface="Menlo"/>
              </a:rPr>
              <a:t>{ "type": "msg",      "from": "raj", "text": "...", "ts": 1700000000 }</a:t>
            </a:r>
          </a:p>
          <a:p>
            <a:r>
              <a:rPr sz="1000">
                <a:solidFill>
                  <a:srgbClr val="E5E7EB"/>
                </a:solidFill>
                <a:latin typeface="Menlo"/>
              </a:rPr>
              <a:t> </a:t>
            </a:r>
          </a:p>
          <a:p>
            <a:r>
              <a:rPr sz="1000">
                <a:solidFill>
                  <a:srgbClr val="E5E7EB"/>
                </a:solidFill>
                <a:latin typeface="Menlo"/>
              </a:rPr>
              <a:t>{ "type": "typing",   "from": "raj", "is_typing": true }</a:t>
            </a:r>
          </a:p>
          <a:p>
            <a:r>
              <a:rPr sz="1000">
                <a:solidFill>
                  <a:srgbClr val="E5E7EB"/>
                </a:solidFill>
                <a:latin typeface="Menlo"/>
              </a:rPr>
              <a:t> </a:t>
            </a:r>
          </a:p>
          <a:p>
            <a:r>
              <a:rPr sz="1000">
                <a:solidFill>
                  <a:srgbClr val="E5E7EB"/>
                </a:solidFill>
                <a:latin typeface="Menlo"/>
              </a:rPr>
              <a:t>{ "type": "presence", "user": "sam", "online": true }</a:t>
            </a:r>
          </a:p>
          <a:p>
            <a:r>
              <a:rPr sz="1000">
                <a:solidFill>
                  <a:srgbClr val="E5E7EB"/>
                </a:solidFill>
                <a:latin typeface="Menlo"/>
              </a:rPr>
              <a:t> </a:t>
            </a:r>
          </a:p>
          <a:p>
            <a:r>
              <a:rPr sz="1000">
                <a:solidFill>
                  <a:srgbClr val="E5E7EB"/>
                </a:solidFill>
                <a:latin typeface="Menlo"/>
              </a:rPr>
              <a:t>{ "type": "pong" }                       # heartbeat reply</a:t>
            </a:r>
          </a:p>
          <a:p>
            <a:r>
              <a:rPr sz="1000">
                <a:solidFill>
                  <a:srgbClr val="E5E7EB"/>
                </a:solidFill>
                <a:latin typeface="Menl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200" b="1" i="0">
                <a:solidFill>
                  <a:srgbClr val="A0A8B8"/>
                </a:solidFill>
                <a:latin typeface="Helvetica Neue"/>
              </a:rPr>
              <a:t>Receiver dispatches on type. Same shape powers Slack, Discord, Linear, Figma comments, etc.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WEBSOCKET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You WILL write ReconnectingWS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Unlike EventSource, the WebSocket API gives you nothing for free. Here's the minimum.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0972800" cy="40233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05156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Menlo"/>
              </a:rPr>
              <a:t>class ReconnectingWS {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constructor(url) {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this.url = url;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this.backoff = 1000;            // start at 1s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this.maxBackoff = 30000;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this.connect();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}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connect() {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this.ws = new WebSocket(this.url);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this.ws.onopen    = () =&gt; { this.backoff = 1000; this.onopen?.(); };       // reset on success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this.ws.onmessage = (e) =&gt; this.onmessage?.(e);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this.ws.onclose   = () =&gt; {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  setTimeout(() =&gt; this.connect(), this.backoff + Math.random() * 500);    // + JITTER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  this.backoff = Math.min(this.backoff * 2, this.maxBackoff);              // exponential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};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this.ws.onerror   = () =&gt; this.ws.close();   // trigger onclose path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}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send(msg) {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if (this.ws.readyState === WebSocket.OPEN) this.ws.send(msg);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  else this.queue.push(msg);      // optional: buffer until reconnect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  }</a:t>
            </a:r>
          </a:p>
          <a:p>
            <a:r>
              <a:rPr sz="1100">
                <a:solidFill>
                  <a:srgbClr val="E5E7EB"/>
                </a:solidFill>
                <a:latin typeface="Menl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WEBSOCKET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Past 1 process: pub-sub or nothing reaches across servers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Sam connects to server-A; Raj to server-B. How does Raj's message reach Sam?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828800" cy="64008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60A5FA"/>
                </a:solidFill>
                <a:latin typeface="Helvetica Neue"/>
              </a:rPr>
              <a:t>Sam's phone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2377440"/>
            <a:ext cx="2286000" cy="64008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2514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4ADE80"/>
                </a:solidFill>
                <a:latin typeface="Helvetica Neue"/>
              </a:rPr>
              <a:t>WS server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291840"/>
            <a:ext cx="2286000" cy="64008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34290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B7185"/>
                </a:solidFill>
                <a:latin typeface="Helvetica Neue"/>
              </a:rPr>
              <a:t>Redis pub-sub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4206240"/>
            <a:ext cx="2286000" cy="64008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43434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4ADE80"/>
                </a:solidFill>
                <a:latin typeface="Helvetica Neue"/>
              </a:rPr>
              <a:t>WS server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81360" y="4206240"/>
            <a:ext cx="1188720" cy="64008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0" y="434340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60A5FA"/>
                </a:solidFill>
                <a:latin typeface="Helvetica Neue"/>
              </a:rPr>
              <a:t>Raj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1. Raj's message arrives at server B  (Raj's chat WS lives there)</a:t>
            </a:r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2. Server B publishes to Redis channel chat:order:123</a:t>
            </a:r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3. Server A is subscribed - it receives the published message</a:t>
            </a:r>
          </a:p>
          <a:p>
            <a:pPr algn="l"/>
            <a:r>
              <a:rPr sz="1400" b="0" i="0">
                <a:solidFill>
                  <a:srgbClr val="E5E7EB"/>
                </a:solidFill>
                <a:latin typeface="Helvetica Neue"/>
              </a:rPr>
              <a:t>4. Server A forwards it down Sam's open WS  -&gt;  Sam sees the message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WEBSOCKET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WebSocket scaling - what changes at each 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Each level adds infrastructure. Know which one you're 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10972800" cy="713232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0A5FA"/>
                </a:solidFill>
                <a:latin typeface="Helvetica Neue"/>
              </a:rPr>
              <a:t>Up to ~100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48716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E8F9"/>
                </a:solidFill>
                <a:latin typeface="Helvetica Neue"/>
              </a:rPr>
              <a:t>Anything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43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One process. Default config. Pick by ergonomics.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63824"/>
            <a:ext cx="10972800" cy="713232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73552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0A5FA"/>
                </a:solidFill>
                <a:latin typeface="Helvetica Neue"/>
              </a:rPr>
              <a:t>100 - 10K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27355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E8F9"/>
                </a:solidFill>
                <a:latin typeface="Helvetica Neue"/>
              </a:rPr>
              <a:t>Tune the basics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9584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Async I/O required. ulimit -n 65535. Heartbeat every 20s. LB idle timeout to 5 min.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50208"/>
            <a:ext cx="10972800" cy="713232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59936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0A5FA"/>
                </a:solidFill>
                <a:latin typeface="Helvetica Neue"/>
              </a:rPr>
              <a:t>10K - 100K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059936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E8F9"/>
                </a:solidFill>
                <a:latin typeface="Helvetica Neue"/>
              </a:rPr>
              <a:t>Pub-sub backbone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1596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Multiple processes/instances. Redis or NATS pub-sub for cross-server broadcasts. Sticky LB sessions. Connection metrics.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36592"/>
            <a:ext cx="10972800" cy="713232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4632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0A5FA"/>
                </a:solidFill>
                <a:latin typeface="Helvetica Neue"/>
              </a:rPr>
              <a:t>100K - 1M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8463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E8F9"/>
                </a:solidFill>
                <a:latin typeface="Helvetica Neue"/>
              </a:rPr>
              <a:t>Specialised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02352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Phoenix Channels (Elixir), Centrifugo, Ably, Pusher, PartyKit. Kernel tuning. Separate WS gateway tier from app servers. Edge delivery (Cloudflare/Fastly).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22976"/>
            <a:ext cx="10972800" cy="713232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32704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0A5FA"/>
                </a:solidFill>
                <a:latin typeface="Helvetica Neue"/>
              </a:rPr>
              <a:t>Over 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5632704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E8F9"/>
                </a:solidFill>
                <a:latin typeface="Helvetica Neue"/>
              </a:rPr>
              <a:t>Specialised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88736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You're past blog-post territory. Hire someone who's done it before. This is a full ops surface.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WEBSOCKET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WebSocket bugs you'll hit, and how to ship around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Most production WS pain comes from these.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1091672" cy="658368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04872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No reconnect logic on the 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79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Network blips silently kill your client forever. Always write a reconnecting wrapper with exponential backoff + jitter.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44952"/>
            <a:ext cx="11091672" cy="658368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18104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No heartbeat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9242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Half-open TCP (network died but TCP doesn't know) looks alive until you write. Send {type:'ping'} every 20-30s; force reconnect if no pong.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58184"/>
            <a:ext cx="11091672" cy="658368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Server is sync (Flask sync, Django pre-Channels)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0565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Exhausts worker pool at ~50 connections. WS needs async (asyncio/uvicorn, Node, Go) - period.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471416"/>
            <a:ext cx="11091672" cy="658368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544568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Custom auth via browser headers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188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Browser WebSocket API does NOT allow custom headers. Use cookies, a subprotocol-as-token, or a short-lived URL token (ws://...?ticket=xxx).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84648"/>
            <a:ext cx="11091672" cy="658368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No backpressure handling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Slow client + fast server = OOM. Bound your send queues; close clients that fall behind.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97880"/>
            <a:ext cx="11091672" cy="658368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971032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Helvetica Neue"/>
              </a:rPr>
              <a:t>Works on dev (one server) breaks on prod (LB + multiple servers)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4535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Sticky sessions on LB; pub-sub backbone (Redis) so broadcasts cross processes; check LB actually supports Upgrade header.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WEBSOCKET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SSE vs WebSocket - when each one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Default to SSE. WebSocket only when you NEED bidirectional.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7E8F9"/>
                </a:solidFill>
                <a:latin typeface="Helvetica Neue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46888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4ADE80"/>
                </a:solidFill>
                <a:latin typeface="Helvetica Neue"/>
              </a:rPr>
              <a:t>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46888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0A5FA"/>
                </a:solidFill>
                <a:latin typeface="Helvetica Neue"/>
              </a:rPr>
              <a:t>WebSocket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Direction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92608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Server -&gt; client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92608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Both 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33756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Plain HTTP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3375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HTTP upgrade to ws://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490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Browser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74904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EventSource (built in)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74904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WebSocket (built 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6052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Auto-reconnect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416052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Yes, free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16052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No, you write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Binary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572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No (text only)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57200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Yes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834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Through proxies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98348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Almost always 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98348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Sometimes blocked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3949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Best for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539496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LLM tokens, status, logs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5394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Chat, voice, games, collab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59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E5E7EB"/>
                </a:solidFill>
                <a:latin typeface="Helvetica Neue"/>
              </a:rPr>
              <a:t>Decision Matrix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7E8F9"/>
                </a:solidFill>
                <a:latin typeface="Helvetica Neue"/>
              </a:rPr>
              <a:t>SECTION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A0A8B8"/>
                </a:solidFill>
                <a:latin typeface="Helvetica Neue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The decision tree - generic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Walk top to bottom. The first leaf that matches your data flow is the answer.</a:t>
            </a:r>
          </a:p>
        </p:txBody>
      </p:sp>
      <p:pic>
        <p:nvPicPr>
          <p:cNvPr id="7" name="Picture 6" descr="12_deci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955" y="2331720"/>
            <a:ext cx="5555785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7E8F9"/>
                </a:solidFill>
                <a:latin typeface="Helvetica Neue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Maya picking the pattern for a new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Same tree, framed as Maya's design checklist. Same answer, more memorable.</a:t>
            </a:r>
          </a:p>
        </p:txBody>
      </p:sp>
      <p:pic>
        <p:nvPicPr>
          <p:cNvPr id="7" name="Picture 6" descr="p_decision_with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608" y="2331720"/>
            <a:ext cx="6794478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Cost ranking - cheapest to most expensive per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Runtime cost only. Engineering cost roughly tracks it too.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1091672" cy="68580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9631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B7185"/>
                </a:solidFill>
                <a:latin typeface="Helvetica Neue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49631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B7185"/>
                </a:solidFill>
                <a:latin typeface="Helvetica Neue"/>
              </a:rPr>
              <a:t>Webhook receiver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496312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Zero idle cost. Server only does work when events fire. Scales for free when nothing's happening.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08960"/>
            <a:ext cx="11091672" cy="68580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7355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BBF24"/>
                </a:solidFill>
                <a:latin typeface="Helvetica Neue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7355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BBF24"/>
                </a:solidFill>
                <a:latin typeface="Helvetica Neue"/>
              </a:rPr>
              <a:t>Short polling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273552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N reqs/min/client. Each is cheap and stateless. Cost grows linearly with clients x rate.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11091672" cy="68580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5079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BBF24"/>
                </a:solidFill>
                <a:latin typeface="Helvetica Neue"/>
              </a:rP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05079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BBF24"/>
                </a:solidFill>
                <a:latin typeface="Helvetica Neue"/>
              </a:rPr>
              <a:t>Long polling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050792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One held connection per client, no CPU until data arrives. Memory similar to SSE.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63440"/>
            <a:ext cx="11091672" cy="68580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4ADE80"/>
                </a:solidFill>
                <a:latin typeface="Helvetica Neue"/>
              </a:rPr>
              <a:t>4.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2803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4ADE80"/>
                </a:solidFill>
                <a:latin typeface="Helvetica Neue"/>
              </a:rPr>
              <a:t>SSE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828032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One held connection per client. Push cost when events fire. Tiny heartbeat overhead.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440680"/>
            <a:ext cx="11091672" cy="68580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0527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0A5FA"/>
                </a:solidFill>
                <a:latin typeface="Helvetica Neue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60527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0A5FA"/>
                </a:solidFill>
                <a:latin typeface="Helvetica Neue"/>
              </a:rPr>
              <a:t>WebSocket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5605272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SSE cost plus framing buffers + send queues + app-level reconnect/heartbeat state + pub-sub fanout.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'I'm building X' - 15 quick recipes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Most common AI / web scenarios mapped to the right pattern.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ChatGPT-style typewriter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1" y="237744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4ADE80"/>
                </a:solidFill>
                <a:latin typeface="Helvetica Neue"/>
              </a:rPr>
              <a:t>SSE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33172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237744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Slack-style team chat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57233" y="237744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60A5FA"/>
                </a:solidFill>
                <a:latin typeface="Helvetica Neue"/>
              </a:rPr>
              <a:t>WebSocket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4320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8892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Stripe payment confirmation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1" y="278892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B7185"/>
                </a:solidFill>
                <a:latin typeface="Helvetica Neue"/>
              </a:rPr>
              <a:t>Webhook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274320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278892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Vercel-style live deploy logs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57233" y="278892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4ADE80"/>
                </a:solidFill>
                <a:latin typeface="Helvetica Neue"/>
              </a:rPr>
              <a:t>SSE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5468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0040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Multiplayer browser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1" y="320040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60A5FA"/>
                </a:solidFill>
                <a:latin typeface="Helvetica Neue"/>
              </a:rPr>
              <a:t>WebSocket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15468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320040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Voice agent (audio in + audio out)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57233" y="320040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60A5FA"/>
                </a:solidFill>
                <a:latin typeface="Helvetica Neue"/>
              </a:rPr>
              <a:t>WebSocket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56616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61188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GitHub PR opened -&gt; trigger CI/agent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1" y="361188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B7185"/>
                </a:solidFill>
                <a:latin typeface="Helvetica Neue"/>
              </a:rPr>
              <a:t>Webhook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356616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361188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'Is my batch job done yet?'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3" y="361188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BBF24"/>
                </a:solidFill>
                <a:latin typeface="Helvetica Neue"/>
              </a:rPr>
              <a:t>Polling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97764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02336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Real-time stock ticker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1" y="402336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4ADE80"/>
                </a:solidFill>
                <a:latin typeface="Helvetica Neue"/>
              </a:rPr>
              <a:t>SSE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397764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402336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Google-Docs-style collaborative editing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3" y="402336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60A5FA"/>
                </a:solidFill>
                <a:latin typeface="Helvetica Neue"/>
              </a:rPr>
              <a:t>WebSocket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38912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3484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MCP server you're building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1" y="443484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4ADE80"/>
                </a:solidFill>
                <a:latin typeface="Helvetica Neue"/>
              </a:rPr>
              <a:t>SSE / Streamable HTTP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438912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443484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Push to a mobile app while it's CLOSED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57233" y="443484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606878"/>
                </a:solidFill>
                <a:latin typeface="Helvetica Neue"/>
              </a:rPr>
              <a:t>APNs / FCM (not us)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480060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84632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File upload progress in one HTTP request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1" y="484632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606878"/>
                </a:solidFill>
                <a:latin typeface="Helvetica Neue"/>
              </a:rPr>
              <a:t>fetch streaming (not us)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99632" y="480060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36792" y="484632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Internal service-to-service event trigger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3" y="484632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B7185"/>
                </a:solidFill>
                <a:latin typeface="Helvetica Neue"/>
              </a:rPr>
              <a:t>Webhook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212080"/>
            <a:ext cx="5532120" cy="36576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257800"/>
            <a:ext cx="3703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E5E7EB"/>
                </a:solidFill>
                <a:latin typeface="Helvetica Neue"/>
              </a:rPr>
              <a:t>Figma-style live cursors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1" y="5257800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60A5FA"/>
                </a:solidFill>
                <a:latin typeface="Helvetica Neue"/>
              </a:rPr>
              <a:t>WebSocket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What changes at scale - by 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Same patterns. Different infrastructure decisions at each tier.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1091672" cy="7772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7E8F9"/>
                </a:solidFill>
                <a:latin typeface="Helvetica Neue"/>
              </a:rPr>
              <a:t>Up to 100 concurrent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Anything works. Single server. Pick by ergonomics.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00400"/>
            <a:ext cx="11091672" cy="7772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375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7E8F9"/>
                </a:solidFill>
                <a:latin typeface="Helvetica Neue"/>
              </a:rPr>
              <a:t>100 - 10K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57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Async I/O. ulimit -n 65535. Heartbeats. LB idle timeout 60-300s. Monitor connection counts.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69080"/>
            <a:ext cx="11091672" cy="7772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2062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7E8F9"/>
                </a:solidFill>
                <a:latin typeface="Helvetica Neue"/>
              </a:rPr>
              <a:t>10K - 100K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Multiple processes. Pub-sub backbone (Redis / NATS / Kafka). Sticky LB sessions. Connection metrics &amp; slow-consumer detection.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37760"/>
            <a:ext cx="11091672" cy="7772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074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7E8F9"/>
                </a:solidFill>
                <a:latin typeface="Helvetica Neue"/>
              </a:rPr>
              <a:t>100K - 1M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949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Specialised tools - Phoenix Channels, Centrifugo, Ably, Pusher, PartyKit. Kernel tuning. Separate gateway tier. Edge delivery.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06440"/>
            <a:ext cx="11091672" cy="7772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9436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7E8F9"/>
                </a:solidFill>
                <a:latin typeface="Helvetica Neue"/>
              </a:rPr>
              <a:t>Over 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Past blog-post territory. Specialised infrastructure built by teams who think about this all day. Hire someone who's done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AI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Why AI apps push every pattern decision harder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Three forces that make these choices matter more in AI than in CRUD apps.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11091672" cy="109728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C08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33472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084FC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33472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5E7EB"/>
                </a:solidFill>
                <a:latin typeface="Helvetica Neue"/>
              </a:rPr>
              <a:t>LLM output is naturally a stream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017520"/>
            <a:ext cx="9784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Static REST feels broken once you've seen ChatGPT type. Batch responses feel laggy even when they're objectively fast.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03320"/>
            <a:ext cx="11091672" cy="109728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C08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867912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084FC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67912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5E7EB"/>
                </a:solidFill>
                <a:latin typeface="Helvetica Neue"/>
              </a:rPr>
              <a:t>Tools can take seconds to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51960"/>
            <a:ext cx="9784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Agent runs web search (5s), reads 3 docs (15s), summarises (10s), writes report (30s). The user is staring at a screen the whole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37760"/>
            <a:ext cx="11091672" cy="109728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C08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102352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084FC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102352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5E7EB"/>
                </a:solidFill>
                <a:latin typeface="Helvetica Neue"/>
              </a:rPr>
              <a:t>Agents are increasingly triggered by external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486400"/>
            <a:ext cx="9784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GitHub fires -&gt; agent reviews PR. Stripe fires -&gt; agent processes refund. Slack fires -&gt; agent answers. That's webhooks. Lots of webhooks.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AI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AI scenario - the agent kicks off a long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Research agent takes 3-5 min. Three valid patterns to surface progress.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10972800" cy="9144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3347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BBF24"/>
                </a:solidFill>
                <a:latin typeface="Helvetica Neue"/>
              </a:rPr>
              <a:t>Polling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633472"/>
            <a:ext cx="79552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POST /jobs returns {id}. UI polls /jobs/{id} every 5s. Spinner -&gt; done toast. Simplest, no progress detail.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10972800" cy="9144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63931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4ADE80"/>
                </a:solidFill>
                <a:latin typeface="Helvetica Neue"/>
              </a:rPr>
              <a:t>SSE for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639312"/>
            <a:ext cx="79552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POST /jobs returns {id}. UI opens /jobs/{id}/stream. Server pushes 'searching web', 'reading 3 docs', 'writing'. Best UX - feels fast even when slow.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10972800" cy="9144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64515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B7185"/>
                </a:solidFill>
                <a:latin typeface="Helvetica Neue"/>
              </a:rPr>
              <a:t>Webhook callback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645152"/>
            <a:ext cx="79552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5E7EB"/>
                </a:solidFill>
                <a:latin typeface="Helvetica Neue"/>
              </a:rPr>
              <a:t>When the worker is external (OpenAI Batch, your own remote service). Pass callback_url; remote service POSTs when done. Best for fully async.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85216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400" b="1" i="0">
                <a:solidFill>
                  <a:srgbClr val="67E8F9"/>
                </a:solidFill>
                <a:latin typeface="Helvetica Neue"/>
              </a:rPr>
              <a:t>Rule of thumb: SSE for progress within seconds. Webhook callback when the wait is hours.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AI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AI scenario - external event triggers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Order delivered -&gt; LiveOrder sends a personalised thank-you SMS via an LLM.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926080"/>
            <a:ext cx="2011680" cy="9144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B7185"/>
                </a:solidFill>
                <a:latin typeface="Helvetica Neue"/>
              </a:rPr>
              <a:t>Order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926080"/>
            <a:ext cx="2011680" cy="9144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31089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4ADE80"/>
                </a:solidFill>
                <a:latin typeface="Helvetica Neue"/>
              </a:rPr>
              <a:t>Post-delivery</a:t>
            </a:r>
          </a:p>
          <a:p>
            <a:pPr algn="ctr"/>
            <a:r>
              <a:rPr sz="1300" b="1">
                <a:solidFill>
                  <a:srgbClr val="4ADE80"/>
                </a:solidFill>
                <a:latin typeface="Helvetica Neue"/>
              </a:rPr>
              <a:t>service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2926080"/>
            <a:ext cx="2011680" cy="9144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31089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7E8F9"/>
                </a:solidFill>
                <a:latin typeface="Helvetica Neue"/>
              </a:rPr>
              <a:t>Queue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2926080"/>
            <a:ext cx="2011680" cy="9144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C08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31089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084FC"/>
                </a:solidFill>
                <a:latin typeface="Helvetica Neue"/>
              </a:rPr>
              <a:t>Agent</a:t>
            </a:r>
          </a:p>
          <a:p>
            <a:pPr algn="ctr"/>
            <a:r>
              <a:rPr sz="1300" b="1">
                <a:solidFill>
                  <a:srgbClr val="C084FC"/>
                </a:solidFill>
                <a:latin typeface="Helvetica Neue"/>
              </a:rPr>
              <a:t>(LLM call)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2926080"/>
            <a:ext cx="2011680" cy="91440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31089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B7185"/>
                </a:solidFill>
                <a:latin typeface="Helvetica Neue"/>
              </a:rPr>
              <a:t>Twilio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200" b="0" i="1">
                <a:solidFill>
                  <a:srgbClr val="A0A8B8"/>
                </a:solidFill>
                <a:latin typeface="Helvetica Neue"/>
              </a:rPr>
              <a:t>internal webhook  -&gt;  verify+dedup+enqueue  -&gt;  worker pulls  -&gt;  LLM call (1-5s)  -&gt;  send SMS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66344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1" i="0">
                <a:solidFill>
                  <a:srgbClr val="67E8F9"/>
                </a:solidFill>
                <a:latin typeface="Helvetica Neue"/>
              </a:rPr>
              <a:t>Three places people get this wrong: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8348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  <a:latin typeface="Helvetica Neue"/>
              </a:rPr>
              <a:t>1.  Doing the LLM call inside the webhook handler. LLM takes 1-5s; sender times out at 5-10s; you get retries; you send duplicate SMS.</a:t>
            </a:r>
          </a:p>
          <a:p>
            <a:pPr algn="l"/>
            <a:r>
              <a:rPr sz="1200" b="0" i="0">
                <a:solidFill>
                  <a:srgbClr val="E5E7EB"/>
                </a:solidFill>
                <a:latin typeface="Helvetica Neue"/>
              </a:rPr>
              <a:t>2.  No dedup. Same delivered event processed twice = customer gets 2 SMSes and Twilio bills you twice.</a:t>
            </a:r>
          </a:p>
          <a:p>
            <a:pPr algn="l"/>
            <a:r>
              <a:rPr sz="1200" b="0" i="0">
                <a:solidFill>
                  <a:srgbClr val="E5E7EB"/>
                </a:solidFill>
                <a:latin typeface="Helvetica Neue"/>
              </a:rPr>
              <a:t>3.  No idempotency in the worker. Two workers race the same job. Wrap the LLM+send in a DB transaction that checks 'already sent?'.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AI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AI scenario - voice or interruptible 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Microphone in, speaker out, mid-stream interrupt. Only WebSocket fits.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34640"/>
            <a:ext cx="1371600" cy="73152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0A5FA"/>
                </a:solidFill>
                <a:latin typeface="Helvetica Neue"/>
              </a:rPr>
              <a:t>Mic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834640"/>
            <a:ext cx="1371600" cy="73152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3017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7E8F9"/>
                </a:solidFill>
                <a:latin typeface="Helvetica Neue"/>
              </a:rPr>
              <a:t>Backend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286000"/>
            <a:ext cx="1371600" cy="73152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C08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4688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C084FC"/>
                </a:solidFill>
                <a:latin typeface="Helvetica Neue"/>
              </a:rPr>
              <a:t>ASR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3383280"/>
            <a:ext cx="1371600" cy="73152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C08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35661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C084FC"/>
                </a:solidFill>
                <a:latin typeface="Helvetica Neue"/>
              </a:rPr>
              <a:t>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834640"/>
            <a:ext cx="1371600" cy="73152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C08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3017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C084FC"/>
                </a:solidFill>
                <a:latin typeface="Helvetica Neue"/>
              </a:rPr>
              <a:t>TTS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2834640"/>
            <a:ext cx="1371600" cy="731520"/>
          </a:xfrm>
          <a:prstGeom prst="roundRect">
            <a:avLst/>
          </a:prstGeom>
          <a:solidFill>
            <a:srgbClr val="141923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3017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0A5FA"/>
                </a:solidFill>
                <a:latin typeface="Helvetica Neue"/>
              </a:rPr>
              <a:t>Speaker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A0A8B8"/>
                </a:solidFill>
                <a:latin typeface="Helvetica Neue"/>
              </a:rPr>
              <a:t>Audio frames flow both ways over one WebSocket  ·  interrupting sends a 'stop' upstream while audio still streams down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0352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SSE   one-way (server -&gt; client). Mic input has nowhere to go.</a:t>
            </a:r>
          </a:p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Polling   latency is way too high; users would hear stutters.</a:t>
            </a:r>
          </a:p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Webhooks   server-to-server only; no path from a user's microphone.</a:t>
            </a:r>
          </a:p>
          <a:p>
            <a:pPr algn="l"/>
            <a:r>
              <a:rPr sz="1300" b="0" i="0">
                <a:solidFill>
                  <a:srgbClr val="E5E7EB"/>
                </a:solidFill>
                <a:latin typeface="Helvetica Neue"/>
              </a:rPr>
              <a:t>WebSocket   binary + bidirectional + low overhead.  Used by OpenAI Realtime, ElevenLabs, Vapi, Retell.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AI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MCP transports - three flavours, all SSE-shaped at the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Model Context Protocol = how Claude Desktop / Cursor talk to your tool servers.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1091672" cy="105156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C08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84FC"/>
                </a:solidFill>
                <a:latin typeface="Helvetica Neue"/>
              </a:rPr>
              <a:t>stdio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49631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A0A8B8"/>
                </a:solidFill>
                <a:latin typeface="Helvetica Neue"/>
              </a:rPr>
              <a:t>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Server is a local process. Messages flow over stdin/stdout. Used for filesystem, git, sqlite tools. Not really a network pattern.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02152"/>
            <a:ext cx="11091672" cy="105156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C08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6393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84FC"/>
                </a:solidFill>
                <a:latin typeface="Helvetica Neue"/>
              </a:rPr>
              <a:t>HTTP + SSE  (older design)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66674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A0A8B8"/>
                </a:solidFill>
                <a:latin typeface="Helvetica Neue"/>
              </a:rPr>
              <a:t>remote, 2 endpoints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05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Client opens an SSE stream for server-to-client. Client sends via a separate HTTP POST. Two endpoints glued together.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72584"/>
            <a:ext cx="11091672" cy="1051560"/>
          </a:xfrm>
          <a:prstGeom prst="roundRect">
            <a:avLst/>
          </a:prstGeom>
          <a:solidFill>
            <a:srgbClr val="141923"/>
          </a:solidFill>
          <a:ln w="12700">
            <a:solidFill>
              <a:srgbClr val="C08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09744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84FC"/>
                </a:solidFill>
                <a:latin typeface="Helvetica Neue"/>
              </a:rPr>
              <a:t>Streamable HTTP  (current 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837176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A0A8B8"/>
                </a:solidFill>
                <a:latin typeface="Helvetica Neue"/>
              </a:rPr>
              <a:t>remote, 1 endpoint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75504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Single endpoint. The response body is itself an SSE stream. Bidirectional via paired POSTs and SSE responses. Still SSE-shaped underneath.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 i="0">
                <a:solidFill>
                  <a:srgbClr val="67E8F9"/>
                </a:solidFill>
                <a:latin typeface="Helvetica Neue"/>
              </a:rPr>
              <a:t>Why SSE? Tool calls take time. One request, many response events (progress + result). That's exactly SSE's shape.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70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E5E7EB"/>
                </a:solidFill>
                <a:latin typeface="Helvetica Neue"/>
              </a:rPr>
              <a:t>All Four,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C084FC"/>
                </a:solidFill>
                <a:latin typeface="Helvetica Neue"/>
              </a:rPr>
              <a:t>SECTION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A0A8B8"/>
                </a:solidFill>
                <a:latin typeface="Helvetica Neue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A real AI app uses all four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Generic architecture. Each edge labelled with which pattern carries it.</a:t>
            </a:r>
          </a:p>
        </p:txBody>
      </p:sp>
      <p:pic>
        <p:nvPicPr>
          <p:cNvPr id="7" name="Picture 6" descr="13_ai_app_all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216" y="2331720"/>
            <a:ext cx="6291262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84FC"/>
                </a:solidFill>
                <a:latin typeface="Helvetica Neue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LiveOrder - all 4 in Raj's order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Same composition, our personas. This is Project 3 in the repo.</a:t>
            </a:r>
          </a:p>
        </p:txBody>
      </p:sp>
      <p:pic>
        <p:nvPicPr>
          <p:cNvPr id="7" name="Picture 6" descr="p_liveorder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437" y="2331720"/>
            <a:ext cx="788882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A0A8B8"/>
                </a:solidFill>
                <a:latin typeface="Helvetica Neue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MCP - the transport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Claude calls tools over HTTP+SSE / Streamable HTTP. One request -&gt; many progress events.</a:t>
            </a:r>
          </a:p>
        </p:txBody>
      </p:sp>
      <p:pic>
        <p:nvPicPr>
          <p:cNvPr id="7" name="Picture 6" descr="14_mc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378" y="2331720"/>
            <a:ext cx="9382938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6583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84FC"/>
                </a:solidFill>
                <a:latin typeface="Helvetica Neue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Maya exposing LiveOrder data to 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Maya's MCP server lets Claude query LiveOrder. The transport is SSE you've already learned.</a:t>
            </a:r>
          </a:p>
        </p:txBody>
      </p:sp>
      <p:pic>
        <p:nvPicPr>
          <p:cNvPr id="7" name="Picture 6" descr="p_mcp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704" y="2331720"/>
            <a:ext cx="8624287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40080"/>
            <a:ext cx="1463040" cy="320040"/>
          </a:xfrm>
          <a:prstGeom prst="round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0B0E14"/>
                </a:solidFill>
                <a:latin typeface="Helvetica Neue"/>
              </a:rPr>
              <a:t>AI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Five questions to ask when building an AI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Walk through these in order. The answers pick the pattern for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1091672" cy="7772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84FC"/>
                </a:solidFill>
                <a:latin typeface="Helvetica Neue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46888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7E8F9"/>
                </a:solidFill>
                <a:latin typeface="Helvetica Neue"/>
              </a:rPr>
              <a:t>Where does the trigger come from?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88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User action -&gt; REST / SSE / WS    ·    External event -&gt; WEBHOOK    ·    Time-based -&gt; cron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91672" cy="7772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84FC"/>
                </a:solidFill>
                <a:latin typeface="Helvetica Neue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33756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7E8F9"/>
                </a:solidFill>
                <a:latin typeface="Helvetica Neue"/>
              </a:rPr>
              <a:t>Is the output stream-friendly?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657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Token text -&gt; SSE    ·    Binary audio / video -&gt; WEBSOCKET    ·    Single result &lt;1s -&gt; REST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69080"/>
            <a:ext cx="11091672" cy="7772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062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84FC"/>
                </a:solidFill>
                <a:latin typeface="Helvetica Neue"/>
              </a:rP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2062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7E8F9"/>
                </a:solidFill>
                <a:latin typeface="Helvetica Neue"/>
              </a:rPr>
              <a:t>Can the user interrupt mid-response?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526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Yes -&gt; WEBSOCKET (need a client-&gt;server signal mid-stream)    ·    No -&gt; SSE is enough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937760"/>
            <a:ext cx="11091672" cy="7772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0749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84FC"/>
                </a:solidFill>
                <a:latin typeface="Helvetica Neue"/>
              </a:rPr>
              <a:t>4.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5074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7E8F9"/>
                </a:solidFill>
                <a:latin typeface="Helvetica Neue"/>
              </a:rPr>
              <a:t>How long does the work take?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&lt;2s REST    ·    2-30s SSE for progress    ·    30s-min: job + SSE + webhook on done    ·    Hours: webhook callback only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06440"/>
            <a:ext cx="11091672" cy="77724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9436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84FC"/>
                </a:solidFill>
                <a:latin typeface="Helvetica Neue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94360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7E8F9"/>
                </a:solidFill>
                <a:latin typeface="Helvetica Neue"/>
              </a:rPr>
              <a:t>How many concurrent users?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6263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5E7EB"/>
                </a:solidFill>
                <a:latin typeface="Helvetica Neue"/>
              </a:rPr>
              <a:t>&lt;100 anything    ·    100-10K SSE sweet spot    ·    &gt;10K pub-sub backbone, consider managed 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76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E5E7EB"/>
                </a:solidFill>
                <a:latin typeface="Helvetica Neue"/>
              </a:rPr>
              <a:t>Workshop 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7E8F9"/>
                </a:solidFill>
                <a:latin typeface="Helvetica Neue"/>
              </a:rPr>
              <a:t>SECTION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Three projects to fork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Each runs locally. Each compares or composes patterns differently.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0972800" cy="118872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67E8F9"/>
                </a:solidFill>
                <a:latin typeface="Helvetica Neue"/>
              </a:rPr>
              <a:t>Project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468880"/>
            <a:ext cx="8778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E5E7EB"/>
                </a:solidFill>
                <a:latin typeface="Helvetica Neue"/>
              </a:rPr>
              <a:t>Streaming Chat - 3 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926080"/>
            <a:ext cx="8778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Same LLM chat exposed via polling, SSE, and WebSocket side-by-side. Feel the UX difference.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57600"/>
            <a:ext cx="10972800" cy="118872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8620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67E8F9"/>
                </a:solidFill>
                <a:latin typeface="Helvetica Neue"/>
              </a:rPr>
              <a:t>Project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840480"/>
            <a:ext cx="8778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E5E7EB"/>
                </a:solidFill>
                <a:latin typeface="Helvetica Neue"/>
              </a:rPr>
              <a:t>Webhook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4297680"/>
            <a:ext cx="8778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Stripe-style webhook intake (HMAC, dedup, fast 200) + receiving-side polling vs SSE comparison.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29200"/>
            <a:ext cx="10972800" cy="1188720"/>
          </a:xfrm>
          <a:prstGeom prst="roundRect">
            <a:avLst/>
          </a:prstGeom>
          <a:solidFill>
            <a:srgbClr val="141923"/>
          </a:solidFill>
          <a:ln w="6350">
            <a:solidFill>
              <a:srgbClr val="262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25780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67E8F9"/>
                </a:solidFill>
                <a:latin typeface="Helvetica Neue"/>
              </a:rPr>
              <a:t>Project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5212080"/>
            <a:ext cx="8778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E5E7EB"/>
                </a:solidFill>
                <a:latin typeface="Helvetica Neue"/>
              </a:rPr>
              <a:t>LiveOrder Capstone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5669280"/>
            <a:ext cx="8778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0A8B8"/>
                </a:solidFill>
                <a:latin typeface="Helvetica Neue"/>
              </a:rPr>
              <a:t>All 4 patterns in one mini-app: order tracking (SSE), driver chat (WS), payment (webhook), revenue report (polling), AI recommender (SSE/LLM).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Lab folders + Postman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Read the code, run it, click Send, see the wire.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97280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500">
                <a:solidFill>
                  <a:srgbClr val="E5E7EB"/>
                </a:solidFill>
                <a:latin typeface="Helvetica Neue"/>
              </a:rPr>
              <a:t>examples/01..07 - one tiny self-contained folder per topic with server.py + client.py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500">
                <a:solidFill>
                  <a:srgbClr val="E5E7EB"/>
                </a:solidFill>
                <a:latin typeface="Helvetica Neue"/>
              </a:rPr>
              <a:t>examples/qa.sh - runs every example end-to-end (49 assertions, all green)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500">
                <a:solidFill>
                  <a:srgbClr val="E5E7EB"/>
                </a:solidFill>
                <a:latin typeface="Helvetica Neue"/>
              </a:rPr>
              <a:t>postman/ - 53 requests in 9 folders, with pre-request scripts for HMAC + JWT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500">
                <a:solidFill>
                  <a:srgbClr val="E5E7EB"/>
                </a:solidFill>
                <a:latin typeface="Helvetica Neue"/>
              </a:rPr>
              <a:t>diagrams/ - 14 technical + 10 persona scenario diagrams, all generated from Python builders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500">
                <a:solidFill>
                  <a:srgbClr val="E5E7EB"/>
                </a:solidFill>
                <a:latin typeface="Helvetica Neue"/>
              </a:rPr>
              <a:t>concepts/ - 8 deep-dive markdown docs (~2900 lines) as the workbook companion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67E8F9"/>
                </a:solidFill>
                <a:latin typeface="Helvetica Neue"/>
              </a:rPr>
              <a:t>•  </a:t>
            </a:r>
            <a:r>
              <a:rPr sz="1500">
                <a:solidFill>
                  <a:srgbClr val="E5E7EB"/>
                </a:solidFill>
                <a:latin typeface="Helvetica Neue"/>
              </a:rPr>
              <a:t>TEACHING.md - the live-class playbook with talking points per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Get the kit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Clone, run the QA, fork the project that fits what you're building.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800" b="1" i="0">
                <a:solidFill>
                  <a:srgbClr val="67E8F9"/>
                </a:solidFill>
                <a:latin typeface="Helvetica Neue"/>
              </a:rPr>
              <a:t>github.com/fnusatvik07/real-time-events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200400"/>
            <a:ext cx="8229600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0" i="0">
                <a:solidFill>
                  <a:srgbClr val="E5E7EB"/>
                </a:solidFill>
                <a:latin typeface="Menlo"/>
              </a:rPr>
              <a:t>git clone https://github.com/fnusatvik07/real-time-events</a:t>
            </a:r>
          </a:p>
          <a:p>
            <a:pPr algn="l"/>
            <a:r>
              <a:rPr sz="1500" b="0" i="0">
                <a:solidFill>
                  <a:srgbClr val="E5E7EB"/>
                </a:solidFill>
                <a:latin typeface="Menlo"/>
              </a:rPr>
              <a:t>cd real-time-events</a:t>
            </a:r>
          </a:p>
          <a:p>
            <a:pPr algn="l"/>
            <a:r>
              <a:rPr sz="1500" b="0" i="0">
                <a:solidFill>
                  <a:srgbClr val="E5E7EB"/>
                </a:solidFill>
                <a:latin typeface="Menlo"/>
              </a:rPr>
              <a:t>python -m venv .venv &amp;&amp; source .venv/bin/activate</a:t>
            </a:r>
          </a:p>
          <a:p>
            <a:pPr algn="l"/>
            <a:r>
              <a:rPr sz="1500" b="0" i="0">
                <a:solidFill>
                  <a:srgbClr val="E5E7EB"/>
                </a:solidFill>
                <a:latin typeface="Menlo"/>
              </a:rPr>
              <a:t>uv pip install fastapi 'uvicorn[standard]' httpx websockets python-dotenv openai</a:t>
            </a:r>
          </a:p>
          <a:p>
            <a:pPr algn="l"/>
            <a:r>
              <a:rPr sz="1500" b="0" i="0">
                <a:solidFill>
                  <a:srgbClr val="E5E7EB"/>
                </a:solidFill>
                <a:latin typeface="Menlo"/>
              </a:rPr>
              <a:t>cd examples &amp;&amp; bash qa.sh    # 49 checks, ~2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200" b="1">
                <a:solidFill>
                  <a:srgbClr val="E5E7EB"/>
                </a:solidFill>
                <a:latin typeface="Helvetica Neue"/>
              </a:rPr>
              <a:t>What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600">
                <a:solidFill>
                  <a:srgbClr val="A0A8B8"/>
                </a:solidFill>
                <a:latin typeface="Helvetica Neue"/>
              </a:rPr>
              <a:t>Print this on a sticky note.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651760" cy="3291840"/>
          </a:xfrm>
          <a:prstGeom prst="roundRect">
            <a:avLst/>
          </a:prstGeom>
          <a:solidFill>
            <a:srgbClr val="141923"/>
          </a:solidFill>
          <a:ln w="254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2651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BBF24"/>
                </a:solidFill>
                <a:latin typeface="Helvetica Neue"/>
              </a:rPr>
              <a:t>POLLING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E5E7EB"/>
                </a:solidFill>
                <a:latin typeface="Helvetica Neue"/>
              </a:rPr>
              <a:t>Slow checks, rare events.</a:t>
            </a:r>
          </a:p>
          <a:p>
            <a:pPr algn="ctr"/>
            <a:r>
              <a:rPr sz="1400">
                <a:solidFill>
                  <a:srgbClr val="E5E7EB"/>
                </a:solidFill>
                <a:latin typeface="Helvetica Neue"/>
              </a:rPr>
              <a:t>OK to be a few seconds late.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468880"/>
            <a:ext cx="2651760" cy="3291840"/>
          </a:xfrm>
          <a:prstGeom prst="roundRect">
            <a:avLst/>
          </a:prstGeom>
          <a:solidFill>
            <a:srgbClr val="141923"/>
          </a:solidFill>
          <a:ln w="254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2926080"/>
            <a:ext cx="2651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B7185"/>
                </a:solidFill>
                <a:latin typeface="Helvetica Neue"/>
              </a:rPr>
              <a:t>WEBHOOKS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7490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E5E7EB"/>
                </a:solidFill>
                <a:latin typeface="Helvetica Neue"/>
              </a:rPr>
              <a:t>External trigger.</a:t>
            </a:r>
          </a:p>
          <a:p>
            <a:pPr algn="ctr"/>
            <a:r>
              <a:rPr sz="1400">
                <a:solidFill>
                  <a:srgbClr val="E5E7EB"/>
                </a:solidFill>
                <a:latin typeface="Helvetica Neue"/>
              </a:rPr>
              <a:t>Sign + dedup + return 200 fast.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468880"/>
            <a:ext cx="2651760" cy="3291840"/>
          </a:xfrm>
          <a:prstGeom prst="roundRect">
            <a:avLst/>
          </a:prstGeom>
          <a:solidFill>
            <a:srgbClr val="141923"/>
          </a:solidFill>
          <a:ln w="254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926080"/>
            <a:ext cx="2651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4ADE80"/>
                </a:solidFill>
                <a:latin typeface="Helvetica Neue"/>
              </a:rPr>
              <a:t>SSE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E5E7EB"/>
                </a:solidFill>
                <a:latin typeface="Helvetica Neue"/>
              </a:rPr>
              <a:t>Server -&gt; client streaming.</a:t>
            </a:r>
          </a:p>
          <a:p>
            <a:pPr algn="ctr"/>
            <a:r>
              <a:rPr sz="1400">
                <a:solidFill>
                  <a:srgbClr val="E5E7EB"/>
                </a:solidFill>
                <a:latin typeface="Helvetica Neue"/>
              </a:rPr>
              <a:t>Default for live UI.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468880"/>
            <a:ext cx="2651760" cy="3291840"/>
          </a:xfrm>
          <a:prstGeom prst="roundRect">
            <a:avLst/>
          </a:prstGeom>
          <a:solidFill>
            <a:srgbClr val="141923"/>
          </a:solidFill>
          <a:ln w="254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926080"/>
            <a:ext cx="2651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0A5FA"/>
                </a:solidFill>
                <a:latin typeface="Helvetica Neue"/>
              </a:rPr>
              <a:t>WEBSOCKETS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7490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E5E7EB"/>
                </a:solidFill>
                <a:latin typeface="Helvetica Neue"/>
              </a:rPr>
              <a:t>Both ways or binary only.</a:t>
            </a:r>
          </a:p>
          <a:p>
            <a:pPr algn="ctr"/>
            <a:r>
              <a:rPr sz="1400">
                <a:solidFill>
                  <a:srgbClr val="E5E7EB"/>
                </a:solidFill>
                <a:latin typeface="Helvetica Neue"/>
              </a:rPr>
              <a:t>Reach last.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500" b="1" i="0">
                <a:solidFill>
                  <a:srgbClr val="67E8F9"/>
                </a:solidFill>
                <a:latin typeface="Helvetica Neue"/>
              </a:rPr>
              <a:t>Default SSE. WebSocket only when bidirectional. Polling for slow. Webhooks for external.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67E8F9"/>
                </a:solidFill>
                <a:latin typeface="Helvetica Neue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i="1">
                <a:solidFill>
                  <a:srgbClr val="A0A8B8"/>
                </a:solidFill>
                <a:latin typeface="Helvetica Neue"/>
              </a:rPr>
              <a:t>Bring your own use case. We'll map it to a pattern.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E5E7EB"/>
                </a:solidFill>
                <a:latin typeface="Menlo"/>
              </a:rPr>
              <a:t>github.com/fnusatvik07/real-time-events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A0A8B8"/>
                </a:solidFill>
                <a:latin typeface="Helvetica Neue"/>
              </a:rPr>
              <a:t>datasense</a:t>
            </a:r>
            <a:r>
              <a:rPr sz="900">
                <a:solidFill>
                  <a:srgbClr val="606878"/>
                </a:solidFill>
                <a:latin typeface="Helvetica Neue"/>
              </a:rPr>
              <a:t>  ·  Real-Time Patterns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06878"/>
                </a:solidFill>
                <a:latin typeface="Helvetica Neue"/>
              </a:rPr>
              <a:t>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
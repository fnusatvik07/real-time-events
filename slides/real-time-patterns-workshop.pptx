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7E8F9"/>
                </a:solidFill>
                <a:latin typeface="Helvetica Neue"/>
              </a:rPr>
              <a:t>datasense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E5E7EB"/>
                </a:solidFill>
                <a:latin typeface="Helvetica Neue"/>
              </a:rPr>
              <a:t>Real-Time</a:t>
            </a:r>
          </a:p>
          <a:p>
            <a:pPr>
              <a:spcBef>
                <a:spcPts val="1000"/>
              </a:spcBef>
            </a:pPr>
            <a:r>
              <a:rPr sz="5600" b="1">
                <a:solidFill>
                  <a:srgbClr val="E5E7EB"/>
                </a:solidFill>
                <a:latin typeface="Helvetica Neue"/>
              </a:rPr>
              <a:t>Communication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66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BBF24"/>
                </a:solidFill>
                <a:latin typeface="Helvetica Neue"/>
              </a:rPr>
              <a:t>Polling</a:t>
            </a:r>
            <a:r>
              <a:rPr sz="2200">
                <a:solidFill>
                  <a:srgbClr val="606878"/>
                </a:solidFill>
                <a:latin typeface="Helvetica Neue"/>
              </a:rPr>
              <a:t>   ·   </a:t>
            </a:r>
            <a:r>
              <a:rPr sz="2200" b="1">
                <a:solidFill>
                  <a:srgbClr val="FB7185"/>
                </a:solidFill>
                <a:latin typeface="Helvetica Neue"/>
              </a:rPr>
              <a:t>Webhooks</a:t>
            </a:r>
            <a:r>
              <a:rPr sz="2200">
                <a:solidFill>
                  <a:srgbClr val="606878"/>
                </a:solidFill>
                <a:latin typeface="Helvetica Neue"/>
              </a:rPr>
              <a:t>   ·   </a:t>
            </a:r>
            <a:r>
              <a:rPr sz="2200" b="1">
                <a:solidFill>
                  <a:srgbClr val="4ADE80"/>
                </a:solidFill>
                <a:latin typeface="Helvetica Neue"/>
              </a:rPr>
              <a:t>SSE</a:t>
            </a:r>
            <a:r>
              <a:rPr sz="2200">
                <a:solidFill>
                  <a:srgbClr val="606878"/>
                </a:solidFill>
                <a:latin typeface="Helvetica Neue"/>
              </a:rPr>
              <a:t>   ·   </a:t>
            </a:r>
            <a:r>
              <a:rPr sz="2200" b="1">
                <a:solidFill>
                  <a:srgbClr val="60A5FA"/>
                </a:solidFill>
                <a:latin typeface="Helvetica Neue"/>
              </a:rPr>
              <a:t>WebSockets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A0A8B8"/>
                </a:solidFill>
                <a:latin typeface="Helvetica Neue"/>
              </a:rPr>
              <a:t>Pick the right pattern. Build apps that feel live without overengineering.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What we'll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Four patterns, three projects, one running scenario.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2000">
                <a:solidFill>
                  <a:srgbClr val="E5E7EB"/>
                </a:solidFill>
                <a:latin typeface="Helvetica Neue"/>
              </a:rPr>
              <a:t>The four real-time patterns and what each is for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2000">
                <a:solidFill>
                  <a:srgbClr val="E5E7EB"/>
                </a:solidFill>
                <a:latin typeface="Helvetica Neue"/>
              </a:rPr>
              <a:t>When to pick which (the decision tree)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2000">
                <a:solidFill>
                  <a:srgbClr val="E5E7EB"/>
                </a:solidFill>
                <a:latin typeface="Helvetica Neue"/>
              </a:rPr>
              <a:t>HTTP basics + JWT auth, refreshed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2000">
                <a:solidFill>
                  <a:srgbClr val="E5E7EB"/>
                </a:solidFill>
                <a:latin typeface="Helvetica Neue"/>
              </a:rPr>
              <a:t>Hands-on: 7 runnable example folders (server + client per pattern)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2000">
                <a:solidFill>
                  <a:srgbClr val="E5E7EB"/>
                </a:solidFill>
                <a:latin typeface="Helvetica Neue"/>
              </a:rPr>
              <a:t>Three full projects, including the LiveOrder capstone that composes all four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2000">
                <a:solidFill>
                  <a:srgbClr val="E5E7EB"/>
                </a:solidFill>
                <a:latin typeface="Helvetica Neue"/>
              </a:rPr>
              <a:t>Where these show up in AI apps (LLM streaming, MCP, voice agents)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Meet the 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Every example below is told through these four. Same people, different patterns.</a:t>
            </a:r>
          </a:p>
        </p:txBody>
      </p:sp>
      <p:pic>
        <p:nvPicPr>
          <p:cNvPr id="5" name="Picture 4" descr="p_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997" y="1828800"/>
            <a:ext cx="10429701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400" i="1">
                <a:solidFill>
                  <a:srgbClr val="A0A8B8"/>
                </a:solidFill>
                <a:latin typeface="Helvetica Neue"/>
              </a:rPr>
              <a:t>Maya builds it · Raj uses it · Priya cooks it · Sam delivers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The problem with plain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The client always speaks first. The server can never push.</a:t>
            </a:r>
          </a:p>
        </p:txBody>
      </p:sp>
      <p:pic>
        <p:nvPicPr>
          <p:cNvPr id="5" name="Picture 4" descr="01_http_ba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602" y="1828800"/>
            <a:ext cx="8104491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400" i="1">
                <a:solidFill>
                  <a:srgbClr val="A0A8B8"/>
                </a:solidFill>
                <a:latin typeface="Helvetica Neue"/>
              </a:rPr>
              <a:t>Every real-time pattern in this workshop exists to work around this one limit.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HTTP status codes that matter for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Memorise these. You'll handle them in every pattern below.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7E8F9"/>
                </a:solidFill>
                <a:latin typeface="Helvetica Neue"/>
              </a:rPr>
              <a:t>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7E8F9"/>
                </a:solidFill>
                <a:latin typeface="Helvetica Neue"/>
              </a:rPr>
              <a:t>MEANING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03120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7E8F9"/>
                </a:solidFill>
                <a:latin typeface="Helvetica Neue"/>
              </a:rPr>
              <a:t>WHEN YOU'LL SEE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7E8F9"/>
                </a:solidFill>
                <a:latin typeface="Menlo"/>
              </a:rP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468880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68880"/>
            <a:ext cx="7406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successful poll; successful webhook receipt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98064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7E8F9"/>
                </a:solidFill>
                <a:latin typeface="Menlo"/>
              </a:rPr>
              <a:t>201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798064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Created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98064"/>
            <a:ext cx="7406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after a POST that creates something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2724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7E8F9"/>
                </a:solidFill>
                <a:latin typeface="Menlo"/>
              </a:rPr>
              <a:t>202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127248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Accepted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127248"/>
            <a:ext cx="7406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'Got it, processing async' - webhook receivers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56432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7E8F9"/>
                </a:solidFill>
                <a:latin typeface="Menlo"/>
              </a:rPr>
              <a:t>204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456432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No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456432"/>
            <a:ext cx="7406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long-poll timeout; nothing to send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85616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7E8F9"/>
                </a:solidFill>
                <a:latin typeface="Menlo"/>
              </a:rPr>
              <a:t>304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785616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Not Modified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785616"/>
            <a:ext cx="7406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ETag/If-None-Match - smart polling savings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7E8F9"/>
                </a:solidFill>
                <a:latin typeface="Menlo"/>
              </a:rPr>
              <a:t>401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114800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Unauthorized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114800"/>
            <a:ext cx="7406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missing/expired token; bad webhook signature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43984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7E8F9"/>
                </a:solidFill>
                <a:latin typeface="Menlo"/>
              </a:rPr>
              <a:t>404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443984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Not Found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443984"/>
            <a:ext cx="7406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wrong URL or missing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773168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7E8F9"/>
                </a:solidFill>
                <a:latin typeface="Menlo"/>
              </a:rPr>
              <a:t>408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773168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Request Timeout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773168"/>
            <a:ext cx="7406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long-poll fell past server limit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102352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7E8F9"/>
                </a:solidFill>
                <a:latin typeface="Menlo"/>
              </a:rPr>
              <a:t>429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102352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Too Many Requests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102352"/>
            <a:ext cx="7406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polling too fast or rate-limited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31536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7E8F9"/>
                </a:solidFill>
                <a:latin typeface="Menlo"/>
              </a:rPr>
              <a:t>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5431536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Internal Server Error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431536"/>
            <a:ext cx="7406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bug; crashed dependency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760720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7E8F9"/>
                </a:solidFill>
                <a:latin typeface="Menlo"/>
              </a:rPr>
              <a:t>502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5760720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Bad Gateway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760720"/>
            <a:ext cx="7406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proxy got nothing useful from backend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089904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7E8F9"/>
                </a:solidFill>
                <a:latin typeface="Menlo"/>
              </a:rPr>
              <a:t>503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6089904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Service Unavailable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6089904"/>
            <a:ext cx="7406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maintenance, overload; webhook senders retry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Stateless vs stateful, per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HTTP itself is stateless. Some patterns add stateful connections on 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7E8F9"/>
                </a:solidFill>
                <a:latin typeface="Helvetica Neue"/>
              </a:rPr>
              <a:t>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2860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7E8F9"/>
                </a:solidFill>
                <a:latin typeface="Helvetica Neue"/>
              </a:rPr>
              <a:t>CONNECTION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2860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7E8F9"/>
                </a:solidFill>
                <a:latin typeface="Helvetica Neue"/>
              </a:rPr>
              <a:t>STATEFUL?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Polling (short)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74320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new HTTP request per poll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7432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0A8B8"/>
                </a:solidFill>
                <a:latin typeface="Helvetica Neue"/>
              </a:rPr>
              <a:t>Stateless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Polling (long)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3832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one held HTTP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3832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0A8B8"/>
                </a:solidFill>
                <a:latin typeface="Helvetica Neue"/>
              </a:rPr>
              <a:t>Stateless on server, in-flight on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Webhook receiver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02336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separate HTTP request per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02336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0A8B8"/>
                </a:solidFill>
                <a:latin typeface="Helvetica Neue"/>
              </a:rPr>
              <a:t>Stateless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66344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one long-lived HTTP connection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66344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0A8B8"/>
                </a:solidFill>
                <a:latin typeface="Helvetica Neue"/>
              </a:rPr>
              <a:t>Stateful at the transport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035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WebSocket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30352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one persistent connection, both directions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30352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ADE80"/>
                </a:solidFill>
                <a:latin typeface="Helvetica Neue"/>
              </a:rPr>
              <a:t>Stateful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09728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400" b="1">
                <a:solidFill>
                  <a:srgbClr val="A0A8B8"/>
                </a:solidFill>
                <a:latin typeface="Helvetica Neue"/>
              </a:rPr>
              <a:t>Stateful = costs memory per client. 100K SSE/WS connections = ~10 GB. Plan accordingly.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The four patterns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Mental model first. Wire format and code in the next sections.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651760" cy="3657600"/>
          </a:xfrm>
          <a:prstGeom prst="roundRect">
            <a:avLst/>
          </a:prstGeom>
          <a:solidFill>
            <a:srgbClr val="141923"/>
          </a:solidFill>
          <a:ln w="9525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2651760" cy="1097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651760" cy="457200"/>
          </a:xfrm>
          <a:prstGeom prst="rect">
            <a:avLst/>
          </a:prstGeom>
          <a:noFill/>
        </p:spPr>
        <p:txBody>
          <a:bodyPr wrap="none" lIns="182880" rIns="182880" tIns="0">
            <a:spAutoFit/>
          </a:bodyPr>
          <a:lstStyle/>
          <a:p>
            <a:r>
              <a:rPr sz="2000" b="1">
                <a:solidFill>
                  <a:srgbClr val="FBBF24"/>
                </a:solidFill>
                <a:latin typeface="Helvetica Neue"/>
              </a:rPr>
              <a:t>POLLING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651760" cy="822960"/>
          </a:xfrm>
          <a:prstGeom prst="rect">
            <a:avLst/>
          </a:prstGeom>
          <a:noFill/>
        </p:spPr>
        <p:txBody>
          <a:bodyPr wrap="none" lIns="182880" rIns="182880" tIns="0">
            <a:spAutoFit/>
          </a:bodyPr>
          <a:lstStyle/>
          <a:p>
            <a:r>
              <a:rPr sz="1500" i="1">
                <a:solidFill>
                  <a:srgbClr val="E5E7EB"/>
                </a:solidFill>
                <a:latin typeface="Helvetica Neue"/>
              </a:rPr>
              <a:t>Are we there yet?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2651760" cy="1554480"/>
          </a:xfrm>
          <a:prstGeom prst="rect">
            <a:avLst/>
          </a:prstGeom>
          <a:noFill/>
        </p:spPr>
        <p:txBody>
          <a:bodyPr wrap="square" lIns="182880" rIns="182880" tIns="0">
            <a:spAutoFit/>
          </a:bodyPr>
          <a:lstStyle/>
          <a:p>
            <a:r>
              <a:rPr sz="1300">
                <a:solidFill>
                  <a:srgbClr val="A0A8B8"/>
                </a:solidFill>
                <a:latin typeface="Helvetica Neue"/>
              </a:rPr>
              <a:t>Client repeatedly asks the server on a timer. Crude. Sometimes the right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286000"/>
            <a:ext cx="2651760" cy="3657600"/>
          </a:xfrm>
          <a:prstGeom prst="roundRect">
            <a:avLst/>
          </a:prstGeom>
          <a:solidFill>
            <a:srgbClr val="141923"/>
          </a:solidFill>
          <a:ln w="9525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286000"/>
            <a:ext cx="2651760" cy="10972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651760" cy="457200"/>
          </a:xfrm>
          <a:prstGeom prst="rect">
            <a:avLst/>
          </a:prstGeom>
          <a:noFill/>
        </p:spPr>
        <p:txBody>
          <a:bodyPr wrap="none" lIns="182880" rIns="182880" tIns="0">
            <a:spAutoFit/>
          </a:bodyPr>
          <a:lstStyle/>
          <a:p>
            <a:r>
              <a:rPr sz="2000" b="1">
                <a:solidFill>
                  <a:srgbClr val="FB7185"/>
                </a:solidFill>
                <a:latin typeface="Helvetica Neue"/>
              </a:rPr>
              <a:t>WEBHOOKS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200400"/>
            <a:ext cx="2651760" cy="822960"/>
          </a:xfrm>
          <a:prstGeom prst="rect">
            <a:avLst/>
          </a:prstGeom>
          <a:noFill/>
        </p:spPr>
        <p:txBody>
          <a:bodyPr wrap="none" lIns="182880" rIns="182880" tIns="0">
            <a:spAutoFit/>
          </a:bodyPr>
          <a:lstStyle/>
          <a:p>
            <a:r>
              <a:rPr sz="1500" i="1">
                <a:solidFill>
                  <a:srgbClr val="E5E7EB"/>
                </a:solidFill>
                <a:latin typeface="Helvetica Neue"/>
              </a:rPr>
              <a:t>Don't call us,</a:t>
            </a:r>
          </a:p>
          <a:p>
            <a:r>
              <a:rPr sz="1500" i="1">
                <a:solidFill>
                  <a:srgbClr val="E5E7EB"/>
                </a:solidFill>
                <a:latin typeface="Helvetica Neue"/>
              </a:rPr>
              <a:t>we'll call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297680"/>
            <a:ext cx="2651760" cy="1554480"/>
          </a:xfrm>
          <a:prstGeom prst="rect">
            <a:avLst/>
          </a:prstGeom>
          <a:noFill/>
        </p:spPr>
        <p:txBody>
          <a:bodyPr wrap="square" lIns="182880" rIns="182880" tIns="0">
            <a:spAutoFit/>
          </a:bodyPr>
          <a:lstStyle/>
          <a:p>
            <a:r>
              <a:rPr sz="1300">
                <a:solidFill>
                  <a:srgbClr val="A0A8B8"/>
                </a:solidFill>
                <a:latin typeface="Helvetica Neue"/>
              </a:rPr>
              <a:t>External server POSTs to your URL when something happens. Server-to-server.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2651760" cy="3657600"/>
          </a:xfrm>
          <a:prstGeom prst="roundRect">
            <a:avLst/>
          </a:prstGeom>
          <a:solidFill>
            <a:srgbClr val="141923"/>
          </a:solidFill>
          <a:ln w="9525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286000"/>
            <a:ext cx="2651760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606040"/>
            <a:ext cx="2651760" cy="457200"/>
          </a:xfrm>
          <a:prstGeom prst="rect">
            <a:avLst/>
          </a:prstGeom>
          <a:noFill/>
        </p:spPr>
        <p:txBody>
          <a:bodyPr wrap="none" lIns="182880" rIns="182880" tIns="0">
            <a:spAutoFit/>
          </a:bodyPr>
          <a:lstStyle/>
          <a:p>
            <a:r>
              <a:rPr sz="2000" b="1">
                <a:solidFill>
                  <a:srgbClr val="4ADE80"/>
                </a:solidFill>
                <a:latin typeface="Helvetica Neue"/>
              </a:rPr>
              <a:t>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2651760" cy="822960"/>
          </a:xfrm>
          <a:prstGeom prst="rect">
            <a:avLst/>
          </a:prstGeom>
          <a:noFill/>
        </p:spPr>
        <p:txBody>
          <a:bodyPr wrap="none" lIns="182880" rIns="182880" tIns="0">
            <a:spAutoFit/>
          </a:bodyPr>
          <a:lstStyle/>
          <a:p>
            <a:r>
              <a:rPr sz="1500" i="1">
                <a:solidFill>
                  <a:srgbClr val="E5E7EB"/>
                </a:solidFill>
                <a:latin typeface="Helvetica Neue"/>
              </a:rPr>
              <a:t>Tune in.</a:t>
            </a:r>
          </a:p>
          <a:p>
            <a:r>
              <a:rPr sz="1500" i="1">
                <a:solidFill>
                  <a:srgbClr val="E5E7EB"/>
                </a:solidFill>
                <a:latin typeface="Helvetica Neue"/>
              </a:rPr>
              <a:t>Server broadcasts.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297680"/>
            <a:ext cx="2651760" cy="1554480"/>
          </a:xfrm>
          <a:prstGeom prst="rect">
            <a:avLst/>
          </a:prstGeom>
          <a:noFill/>
        </p:spPr>
        <p:txBody>
          <a:bodyPr wrap="square" lIns="182880" rIns="182880" tIns="0">
            <a:spAutoFit/>
          </a:bodyPr>
          <a:lstStyle/>
          <a:p>
            <a:r>
              <a:rPr sz="1300">
                <a:solidFill>
                  <a:srgbClr val="A0A8B8"/>
                </a:solidFill>
                <a:latin typeface="Helvetica Neue"/>
              </a:rPr>
              <a:t>Server holds one HTTP connection and pushes events. Browser-native. One-way.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286000"/>
            <a:ext cx="2651760" cy="3657600"/>
          </a:xfrm>
          <a:prstGeom prst="roundRect">
            <a:avLst/>
          </a:prstGeom>
          <a:solidFill>
            <a:srgbClr val="141923"/>
          </a:solidFill>
          <a:ln w="9525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2286000"/>
            <a:ext cx="2651760" cy="10972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606040"/>
            <a:ext cx="2651760" cy="457200"/>
          </a:xfrm>
          <a:prstGeom prst="rect">
            <a:avLst/>
          </a:prstGeom>
          <a:noFill/>
        </p:spPr>
        <p:txBody>
          <a:bodyPr wrap="none" lIns="182880" rIns="182880" tIns="0">
            <a:spAutoFit/>
          </a:bodyPr>
          <a:lstStyle/>
          <a:p>
            <a:r>
              <a:rPr sz="2000" b="1">
                <a:solidFill>
                  <a:srgbClr val="60A5FA"/>
                </a:solidFill>
                <a:latin typeface="Helvetica Neue"/>
              </a:rPr>
              <a:t>WEBSOCKETS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200400"/>
            <a:ext cx="2651760" cy="822960"/>
          </a:xfrm>
          <a:prstGeom prst="rect">
            <a:avLst/>
          </a:prstGeom>
          <a:noFill/>
        </p:spPr>
        <p:txBody>
          <a:bodyPr wrap="none" lIns="182880" rIns="182880" tIns="0">
            <a:spAutoFit/>
          </a:bodyPr>
          <a:lstStyle/>
          <a:p>
            <a:r>
              <a:rPr sz="1500" i="1">
                <a:solidFill>
                  <a:srgbClr val="E5E7EB"/>
                </a:solidFill>
                <a:latin typeface="Helvetica Neue"/>
              </a:rPr>
              <a:t>Open a phone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297680"/>
            <a:ext cx="2651760" cy="1554480"/>
          </a:xfrm>
          <a:prstGeom prst="rect">
            <a:avLst/>
          </a:prstGeom>
          <a:noFill/>
        </p:spPr>
        <p:txBody>
          <a:bodyPr wrap="square" lIns="182880" rIns="182880" tIns="0">
            <a:spAutoFit/>
          </a:bodyPr>
          <a:lstStyle/>
          <a:p>
            <a:r>
              <a:rPr sz="1300">
                <a:solidFill>
                  <a:srgbClr val="A0A8B8"/>
                </a:solidFill>
                <a:latin typeface="Helvetica Neue"/>
              </a:rPr>
              <a:t>Persistent, bidirectional, low-overhead. Use only when you really need two-way.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5E7EB"/>
                </a:solidFill>
                <a:latin typeface="Helvetica Neue"/>
              </a:rPr>
              <a:t>Polling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Helvetica Neue"/>
              </a:rPr>
              <a:t>SECTION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POLLING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0A8B8"/>
                </a:solidFill>
                <a:latin typeface="Helvetica Neue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Short polling - the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Client asks on a timer. Server immediately returns whatever it has.</a:t>
            </a:r>
          </a:p>
        </p:txBody>
      </p:sp>
      <p:pic>
        <p:nvPicPr>
          <p:cNvPr id="7" name="Picture 6" descr="02_short_po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840" y="2331720"/>
            <a:ext cx="5280015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POLLING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BBF24"/>
                </a:solidFill>
                <a:latin typeface="Helvetica Neue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Raj refreshing his Swiggy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The kid in the back seat. 'Are we there yet?'  Most refreshes return the same status.</a:t>
            </a:r>
          </a:p>
        </p:txBody>
      </p:sp>
      <p:pic>
        <p:nvPicPr>
          <p:cNvPr id="7" name="Picture 6" descr="p_polling_swig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430" y="2331720"/>
            <a:ext cx="9202835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POLLING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0A8B8"/>
                </a:solidFill>
                <a:latin typeface="Helvetica Neue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Long polling - the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Server holds the request open until data is ready (or timeout). One held connection per client.</a:t>
            </a:r>
          </a:p>
        </p:txBody>
      </p:sp>
      <p:pic>
        <p:nvPicPr>
          <p:cNvPr id="7" name="Picture 6" descr="03_long_po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230" y="2331720"/>
            <a:ext cx="5577234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POLLING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BBF24"/>
                </a:solidFill>
                <a:latin typeface="Helvetica Neue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Raj waits for an Uber 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One held request. The server replies the moment a driver accepts. No wasted polls.</a:t>
            </a:r>
          </a:p>
        </p:txBody>
      </p:sp>
      <p:pic>
        <p:nvPicPr>
          <p:cNvPr id="7" name="Picture 6" descr="p_long_polling_u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527" y="2331720"/>
            <a:ext cx="9212641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POLLING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Making polling cheaper without changing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Six tricks that cut waste 10x. Use them ALL before you reach for SSE.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0972800" cy="54864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4203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BF24"/>
                </a:solidFill>
                <a:latin typeface="Helvetica Neue"/>
              </a:rPr>
              <a:t>1. Cursor / since= parameter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4203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Send the last-seen id so the server returns only deltas.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10972800" cy="54864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8211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BF24"/>
                </a:solidFill>
                <a:latin typeface="Helvetica Neue"/>
              </a:rPr>
              <a:t>2. ETag + If-None-Match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8211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Server returns 304 with empty body when nothing changed. Bandwidth -&gt; ~zero.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40"/>
            <a:ext cx="10972800" cy="54864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2219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BF24"/>
                </a:solidFill>
                <a:latin typeface="Helvetica Neue"/>
              </a:rPr>
              <a:t>3. Exponential backoff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82219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If five polls in a row return empty, slow down. Reset on activity.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10972800" cy="54864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6227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BF24"/>
                </a:solidFill>
                <a:latin typeface="Helvetica Neue"/>
              </a:rPr>
              <a:t>4. Jitter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46227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Add +-10% random offset so 10K clients don't sync up and DDoS you.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29200"/>
            <a:ext cx="10972800" cy="54864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0235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BF24"/>
                </a:solidFill>
                <a:latin typeface="Helvetica Neue"/>
              </a:rPr>
              <a:t>5. Pause when invisible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10235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Page Visibility API. No point polling for a tab no one's looking 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0972800" cy="54864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42432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BF24"/>
                </a:solidFill>
                <a:latin typeface="Helvetica Neue"/>
              </a:rPr>
              <a:t>6. Conditional auth caching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74243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Don't hit your auth DB on every poll. JWT verify in-process is fine.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POLLING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Polling bugs you'll hit, and the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Every team rediscovers these. Save yourself the outage.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0972800" cy="713232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'Data never updates' even though server has new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5E7EB"/>
                </a:solidFill>
                <a:latin typeface="Helvetica Neue"/>
              </a:rPr>
              <a:t>Browser or CDN cached your GET. Add Cache-Control: no-store, or ?t=&lt;ts&gt; cache-buster.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55264"/>
            <a:ext cx="10972800" cy="713232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46704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Long-poll times out at 30s even though you set 60s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21024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5E7EB"/>
                </a:solidFill>
                <a:latin typeface="Helvetica Neue"/>
              </a:rPr>
              <a:t>A proxy or LB has a shorter idle timeout. Set server &lt; LB always.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41648"/>
            <a:ext cx="10972800" cy="713232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3308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Worked in dev, exploded in prod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0740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5E7EB"/>
                </a:solidFill>
                <a:latin typeface="Helvetica Neue"/>
              </a:rPr>
              <a:t>Dev had 1 user; prod has 10K. Add per-endpoint req/sec and DB query metrics; you'll see the N+1.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28032"/>
            <a:ext cx="10972800" cy="713232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1947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Polling continues after tab closes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9379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5E7EB"/>
                </a:solidFill>
                <a:latin typeface="Helvetica Neue"/>
              </a:rPr>
              <a:t>Forgot to clearInterval on unmount/visibilitychange. Always pair start with stop.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14416"/>
            <a:ext cx="10972800" cy="713232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05856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UI shows duplicate notifications on every poll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80176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5E7EB"/>
                </a:solidFill>
                <a:latin typeface="Helvetica Neue"/>
              </a:rPr>
              <a:t>Missing cursor; you're re-fetching the whole list. Add ?since=&lt;last_id&gt;.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POLLING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When polling is the right call (and when it isn't)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It's not always wrong. Just usually mis-used.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394960" cy="3657600"/>
          </a:xfrm>
          <a:prstGeom prst="roundRect">
            <a:avLst/>
          </a:prstGeom>
          <a:solidFill>
            <a:srgbClr val="141923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ADE80"/>
                </a:solidFill>
                <a:latin typeface="Helvetica Neue"/>
              </a:rPr>
              <a:t>Use polling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493776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Helvetica Neue"/>
              </a:rPr>
              <a:t>Updates are rare and a few seconds stale is fine</a:t>
            </a:r>
          </a:p>
          <a:p>
            <a:pPr algn="l"/>
            <a:r>
              <a:rPr sz="1300" b="0">
                <a:solidFill>
                  <a:srgbClr val="E5E7EB"/>
                </a:solidFill>
                <a:latin typeface="Helvetica Neue"/>
              </a:rPr>
              <a:t>You're calling someone else's API that only supports REST</a:t>
            </a:r>
          </a:p>
          <a:p>
            <a:pPr algn="l"/>
            <a:r>
              <a:rPr sz="1300" b="0">
                <a:solidFill>
                  <a:srgbClr val="E5E7EB"/>
                </a:solidFill>
                <a:latin typeface="Helvetica Neue"/>
              </a:rPr>
              <a:t>Total clients &lt; 100; engineering cost matters more than waste</a:t>
            </a:r>
          </a:p>
          <a:p>
            <a:pPr algn="l"/>
            <a:r>
              <a:rPr sz="1300" b="0">
                <a:solidFill>
                  <a:srgbClr val="E5E7EB"/>
                </a:solidFill>
                <a:latin typeface="Helvetica Neue"/>
              </a:rPr>
              <a:t>You need to ship in an afternoon</a:t>
            </a:r>
          </a:p>
          <a:p>
            <a:pPr algn="l"/>
            <a:r>
              <a:rPr sz="1300" b="0">
                <a:solidFill>
                  <a:srgbClr val="E5E7EB"/>
                </a:solidFill>
                <a:latin typeface="Helvetica Neue"/>
              </a:rPr>
              <a:t>Status checks for slow background jobs (batch reports, fine-tunes)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394960" cy="3657600"/>
          </a:xfrm>
          <a:prstGeom prst="roundRect">
            <a:avLst/>
          </a:prstGeom>
          <a:solidFill>
            <a:srgbClr val="141923"/>
          </a:solidFill>
          <a:ln w="190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517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B7185"/>
                </a:solidFill>
                <a:latin typeface="Helvetica Neue"/>
              </a:rPr>
              <a:t>Don't poll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246120"/>
            <a:ext cx="493776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Helvetica Neue"/>
              </a:rPr>
              <a:t>The UI must feel live (chat, typing, multiplayer, game)</a:t>
            </a:r>
          </a:p>
          <a:p>
            <a:pPr algn="l"/>
            <a:r>
              <a:rPr sz="1300" b="0">
                <a:solidFill>
                  <a:srgbClr val="E5E7EB"/>
                </a:solidFill>
                <a:latin typeface="Helvetica Neue"/>
              </a:rPr>
              <a:t>You have 10k+ mostly-idle clients (millions of empty requests)</a:t>
            </a:r>
          </a:p>
          <a:p>
            <a:pPr algn="l"/>
            <a:r>
              <a:rPr sz="1300" b="0">
                <a:solidFill>
                  <a:srgbClr val="E5E7EB"/>
                </a:solidFill>
                <a:latin typeface="Helvetica Neue"/>
              </a:rPr>
              <a:t>You'd be polling at 10+ Hz - just use SSE</a:t>
            </a:r>
          </a:p>
          <a:p>
            <a:pPr algn="l"/>
            <a:r>
              <a:rPr sz="1300" b="0">
                <a:solidFill>
                  <a:srgbClr val="E5E7EB"/>
                </a:solidFill>
                <a:latin typeface="Helvetica Neue"/>
              </a:rPr>
              <a:t>You're hitting someone else's rate-limited API quota</a:t>
            </a:r>
          </a:p>
          <a:p>
            <a:pPr algn="l"/>
            <a:r>
              <a:rPr sz="1300" b="0">
                <a:solidFill>
                  <a:srgbClr val="E5E7EB"/>
                </a:solidFill>
                <a:latin typeface="Helvetica Neue"/>
              </a:rPr>
              <a:t>The source already supports webhooks; just use those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5E7EB"/>
                </a:solidFill>
                <a:latin typeface="Helvetica Neue"/>
              </a:rPr>
              <a:t>Webhooks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B7185"/>
                </a:solidFill>
                <a:latin typeface="Helvetica Neue"/>
              </a:rPr>
              <a:t>SECTION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0A8B8"/>
                </a:solidFill>
                <a:latin typeface="Helvetica Neue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Webhook - the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Third-party server POSTs to YOUR URL when something happens. Zero idle traffic.</a:t>
            </a:r>
          </a:p>
        </p:txBody>
      </p:sp>
      <p:pic>
        <p:nvPicPr>
          <p:cNvPr id="7" name="Picture 6" descr="05_webhook_ba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539" y="2331720"/>
            <a:ext cx="6814616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B7185"/>
                </a:solidFill>
                <a:latin typeface="Helvetica Neue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Stripe pays for Raj's biryani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Stripe is the source of truth. They tell Maya's backend when the card cleared.</a:t>
            </a:r>
          </a:p>
        </p:txBody>
      </p:sp>
      <p:pic>
        <p:nvPicPr>
          <p:cNvPr id="7" name="Picture 6" descr="p_webhook_str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964" y="2331720"/>
            <a:ext cx="8363767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The four rules of webhook receivers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Skip any one and you'll have very interesting outages.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0972800" cy="91440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B7185"/>
                </a:solidFill>
                <a:latin typeface="Helvetica Neue"/>
              </a:rPr>
              <a:t>1. Return 2xx fast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Don't do work in the handler. Verify, queue, return 200. Stripe times out at 5-10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10972800" cy="91440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B7185"/>
                </a:solidFill>
                <a:latin typeface="Helvetica Neue"/>
              </a:rPr>
              <a:t>2. Verify the signature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HMAC-SHA256 of the body, constant-time compare. Without this, anyone can fake events.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10972800" cy="91440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B7185"/>
                </a:solidFill>
                <a:latin typeface="Helvetica Neue"/>
              </a:rPr>
              <a:t>3. Dedup by event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Senders sometimes deliver twice. Without dedup, you'll double-charge cards.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6400"/>
            <a:ext cx="10972800" cy="91440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B7185"/>
                </a:solidFill>
                <a:latin typeface="Helvetica Neue"/>
              </a:rPr>
              <a:t>4. Return 200 (not 5xx) for events you don't care about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5xx triggers retries forever. Log + 200 is the right answer for noise.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Retries and idempotent dedup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Same event id arriving twice is normal. Be ready.</a:t>
            </a:r>
          </a:p>
        </p:txBody>
      </p:sp>
      <p:pic>
        <p:nvPicPr>
          <p:cNvPr id="6" name="Picture 5" descr="06_webhook_re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412" y="2331720"/>
            <a:ext cx="533487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Signature verification - HMAC-SHA256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The one thing standing between your webhook URL and fake events.</a:t>
            </a:r>
          </a:p>
        </p:txBody>
      </p:sp>
      <p:pic>
        <p:nvPicPr>
          <p:cNvPr id="6" name="Picture 5" descr="07_webhook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389" y="2331720"/>
            <a:ext cx="6460916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Testing webhooks locally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Stripe can't reach localhost:8000. Here's how to bridge.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0972800" cy="105156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B7185"/>
                </a:solidFill>
                <a:latin typeface="Helvetica Neue"/>
              </a:rPr>
              <a:t>webhook.site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6517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i="1">
                <a:solidFill>
                  <a:srgbClr val="A0A8B8"/>
                </a:solidFill>
                <a:latin typeface="Helvetica Neue"/>
              </a:rPr>
              <a:t>look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5E7EB"/>
                </a:solidFill>
                <a:latin typeface="Helvetica Neue"/>
              </a:rPr>
              <a:t>Visit https://webhook.site, get a unique URL, paste into Stripe. Sees every request in a dashboard. Can't run YOUR code against it but great for inspecting payloads.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11880"/>
            <a:ext cx="10972800" cy="105156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490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B7185"/>
                </a:solidFill>
                <a:latin typeface="Helvetica Neue"/>
              </a:rPr>
              <a:t>ngrok / Cloudflare Tunnel / Tailscale Funnel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7947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i="1">
                <a:solidFill>
                  <a:srgbClr val="A0A8B8"/>
                </a:solidFill>
                <a:latin typeface="Helvetica Neue"/>
              </a:rPr>
              <a:t>tunnel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5E7EB"/>
                </a:solidFill>
                <a:latin typeface="Helvetica Neue"/>
              </a:rPr>
              <a:t>ngrok http 8000 -&gt; public URL forwarding to localhost. Combined with the ngrok web inspector (localhost:4040) you can see + replay every request.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10972800" cy="105156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B7185"/>
                </a:solidFill>
                <a:latin typeface="Helvetica Neue"/>
              </a:rPr>
              <a:t>Stripe CLI (or provider equivalent)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9377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i="1">
                <a:solidFill>
                  <a:srgbClr val="A0A8B8"/>
                </a:solidFill>
                <a:latin typeface="Helvetica Neue"/>
              </a:rPr>
              <a:t>real events, no tunnel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5E7EB"/>
                </a:solidFill>
                <a:latin typeface="Helvetica Neue"/>
              </a:rPr>
              <a:t>stripe listen --forward-to localhost:8000/webhooks/stripe.  Forwards real test webhook events from your Stripe account straight to localhost. Handles signature setup.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If you're the SENDER (offering webhooks to customers)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The other side of the table. Same rules, mirrored.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400">
                <a:solidFill>
                  <a:srgbClr val="E5E7EB"/>
                </a:solidFill>
                <a:latin typeface="Helvetica Neue"/>
              </a:rPr>
              <a:t>Make registration first-class. UI + API to register URLs, multiple URLs per account, filter by event type.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400">
                <a:solidFill>
                  <a:srgbClr val="E5E7EB"/>
                </a:solidFill>
                <a:latin typeface="Helvetica Neue"/>
              </a:rPr>
              <a:t>Sign every payload. Per-customer signing secret. Document the algorithm and rotation flow.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400">
                <a:solidFill>
                  <a:srgbClr val="E5E7EB"/>
                </a:solidFill>
                <a:latin typeface="Helvetica Neue"/>
              </a:rPr>
              <a:t>Include a timestamp in the signed payload (defeats replay attacks).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400">
                <a:solidFill>
                  <a:srgbClr val="E5E7EB"/>
                </a:solidFill>
                <a:latin typeface="Helvetica Neue"/>
              </a:rPr>
              <a:t>Retry with backoff. Standard schedule: 1m, 5m, 15m, 1h, 6h, 12h. Give up after ~24h, mark endpoint disabled.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400">
                <a:solidFill>
                  <a:srgbClr val="E5E7EB"/>
                </a:solidFill>
                <a:latin typeface="Helvetica Neue"/>
              </a:rPr>
              <a:t>Provide a 'Send test event' button in the dashboard - your customers will use it constantly.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400">
                <a:solidFill>
                  <a:srgbClr val="E5E7EB"/>
                </a:solidFill>
                <a:latin typeface="Helvetica Neue"/>
              </a:rPr>
              <a:t>Maintain a delivery log: last 100 deliveries, status codes, response times, response bodies. Invaluable for support.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400">
                <a:solidFill>
                  <a:srgbClr val="E5E7EB"/>
                </a:solidFill>
                <a:latin typeface="Helvetica Neue"/>
              </a:rPr>
              <a:t>Build internal rate limits. A bug that fires 1M duplicate webhooks tonight = 1M customer outages.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5E7EB"/>
                </a:solidFill>
                <a:latin typeface="Helvetica Neue"/>
              </a:rPr>
              <a:t>Server-Sent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DE80"/>
                </a:solidFill>
                <a:latin typeface="Helvetica Neue"/>
              </a:rPr>
              <a:t>SECTION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0A8B8"/>
                </a:solidFill>
                <a:latin typeface="Helvetica Neue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SSE - the wire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One HTTP connection. Server streams labelled events; client reads as they arrive.</a:t>
            </a:r>
          </a:p>
        </p:txBody>
      </p:sp>
      <p:pic>
        <p:nvPicPr>
          <p:cNvPr id="7" name="Picture 6" descr="08_sse_ba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856" y="2331720"/>
            <a:ext cx="6121982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ADE80"/>
                </a:solidFill>
                <a:latin typeface="Helvetica Neue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Raj watching his order status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Server pushes 'paid -&gt; cooking -&gt; out for delivery -&gt; delivered' as events. Zero polling.</a:t>
            </a:r>
          </a:p>
        </p:txBody>
      </p:sp>
      <p:pic>
        <p:nvPicPr>
          <p:cNvPr id="7" name="Picture 6" descr="p_sse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430" y="2331720"/>
            <a:ext cx="9202835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0A8B8"/>
                </a:solidFill>
                <a:latin typeface="Helvetica Neue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Auto-reconnect with Last-Event-ID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Connection drops? Browser reconnects and tells the server what it last saw. Server resumes.</a:t>
            </a:r>
          </a:p>
        </p:txBody>
      </p:sp>
      <p:pic>
        <p:nvPicPr>
          <p:cNvPr id="7" name="Picture 6" descr="09_sse_reconn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020" y="2331720"/>
            <a:ext cx="5215655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ADE80"/>
                </a:solidFill>
                <a:latin typeface="Helvetica Neue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Streaming an LLM response (the ChatGPT pattern)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Backend proxies OpenAI's SSE stream as SSE to the browser. Same wire format both sides.</a:t>
            </a:r>
          </a:p>
        </p:txBody>
      </p:sp>
      <p:pic>
        <p:nvPicPr>
          <p:cNvPr id="7" name="Picture 6" descr="p_sse_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2331720"/>
            <a:ext cx="10972800" cy="31702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The SSE grammar - all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Five fields plus a blank line. That's the protocol in full.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0972800" cy="420624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1051560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solidFill>
                  <a:srgbClr val="E5E7EB"/>
                </a:solidFill>
                <a:latin typeface="Menlo"/>
              </a:rPr>
              <a:t>event: &lt;event-type&gt;      optional, default 'message'.  JS addEventListener key.</a:t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>id: &lt;event-id&gt;           optional. Browser remembers; sends as Last-Event-ID on reconnect.</a:t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>retry: &lt;ms&gt;              optional. Tells browser the reconnect delay.</a:t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>data: &lt;line of payload&gt;  can repeat; multiple data: lines join with '\n'.</a:t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>:&lt;comment&gt;               ignored by client. Use to send keep-alive pings.</a:t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>                         &lt;- BLANK LINE ends this event</a:t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>Examples</a:t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>--------</a:t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>  data: hello                              # simplest possible event</a:t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>  event: token                             # named event with JSON payload</a:t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>  data: {"text": "Vada"}</a:t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>  id: 42                                   # with id - enables Last-Event-ID resume</a:t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>  event: chunk</a:t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>  data: {"text": " Pav"}</a:t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/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>  : keep-alive ping                        # comment - keeps proxies from closing</a:t>
            </a:r>
          </a:p>
          <a:p>
            <a:r>
              <a:rPr sz="1200">
                <a:solidFill>
                  <a:srgbClr val="E5E7EB"/>
                </a:solidFill>
                <a:latin typeface="Menlo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SSE gotchas every team hits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All recoverable. Knowing them up front saves the all-nighter.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11091672" cy="658368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04872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All events arrive at once at the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7919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Helvetica Neue"/>
              </a:rPr>
              <a:t>A proxy or middleware is buffering. nginx: 'proxy_buffering off' or header 'X-Accel-Buffering: no'. Disable gzip on event-stream endpoints.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44952"/>
            <a:ext cx="11091672" cy="658368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Connection dies after 60s of silence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9242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Helvetica Neue"/>
              </a:rPr>
              <a:t>Idle-killer somewhere (LB, proxy, mobile network). Send ': ping\n\n' every 15-20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58184"/>
            <a:ext cx="11091672" cy="658368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Browser shows 'reconnecting' forever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0565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Helvetica Neue"/>
              </a:rPr>
              <a:t>Server is returning a non-200 status. EventSource keeps retrying but never succeeds. Check server logs and CORS headers.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71416"/>
            <a:ext cx="11091672" cy="658368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Authorization header doesn't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188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Helvetica Neue"/>
              </a:rPr>
              <a:t>EventSource doesn't allow custom headers. Use cookies (best), short-lived URL token, or the event-source-polyfill library.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84648"/>
            <a:ext cx="11091672" cy="658368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Sometimes I get duplicate events after reconnect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Helvetica Neue"/>
              </a:rPr>
              <a:t>Server replay is using &gt;= instead of &gt; the Last-Event-ID. Use strict greater-than.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97880"/>
            <a:ext cx="11091672" cy="658368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971032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Closing the tab leaves connection open server-side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2453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Helvetica Neue"/>
              </a:rPr>
              <a:t>Normal - server only finds out at next heartbeat write. Clean up subscribers in your generator's 'finally' block.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You've used SSE thousands of 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Anywhere you've watched text appear word-by-word in 2023+.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600">
                <a:solidFill>
                  <a:srgbClr val="E5E7EB"/>
                </a:solidFill>
                <a:latin typeface="Helvetica Neue"/>
              </a:rPr>
              <a:t>ChatGPT, Claude.ai, Gemini chat - the typing animation IS SSE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600">
                <a:solidFill>
                  <a:srgbClr val="E5E7EB"/>
                </a:solidFill>
                <a:latin typeface="Helvetica Neue"/>
              </a:rPr>
              <a:t>Cursor, GitHub Copilot Chat, Continue.dev - same pattern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600">
                <a:solidFill>
                  <a:srgbClr val="E5E7EB"/>
                </a:solidFill>
                <a:latin typeface="Helvetica Neue"/>
              </a:rPr>
              <a:t>OpenAI / Anthropic / Mistral SDKs with stream=True - SSE clients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600">
                <a:solidFill>
                  <a:srgbClr val="E5E7EB"/>
                </a:solidFill>
                <a:latin typeface="Helvetica Neue"/>
              </a:rPr>
              <a:t>Vercel AI SDK useChat hook - SSE client + parser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600">
                <a:solidFill>
                  <a:srgbClr val="E5E7EB"/>
                </a:solidFill>
                <a:latin typeface="Helvetica Neue"/>
              </a:rPr>
              <a:t>Vercel / Render / Netlify deploy logs streaming in browser - SSE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600">
                <a:solidFill>
                  <a:srgbClr val="E5E7EB"/>
                </a:solidFill>
                <a:latin typeface="Helvetica Neue"/>
              </a:rPr>
              <a:t>MCP servers (Claude Desktop tools) - HTTP+SSE / Streamable HTTP transport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600">
                <a:solidFill>
                  <a:srgbClr val="E5E7EB"/>
                </a:solidFill>
                <a:latin typeface="Helvetica Neue"/>
              </a:rPr>
              <a:t>LangSmith and LangFuse trace viewers - 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5E7EB"/>
                </a:solidFill>
                <a:latin typeface="Helvetica Neue"/>
              </a:rPr>
              <a:t>WebSockets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  <a:latin typeface="Helvetica Neue"/>
              </a:rPr>
              <a:t>SECTION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WEBSOCKET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0A8B8"/>
                </a:solidFill>
                <a:latin typeface="Helvetica Neue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WebSocket - the handshake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Starts as HTTP. Upgrades to a custom frame protocol on the same TCP. Both sides talk freely.</a:t>
            </a:r>
          </a:p>
        </p:txBody>
      </p:sp>
      <p:pic>
        <p:nvPicPr>
          <p:cNvPr id="7" name="Picture 6" descr="10_websocket_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030" y="2331720"/>
            <a:ext cx="5927634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WEBSOCKET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0A5FA"/>
                </a:solidFill>
                <a:latin typeface="Helvetica Neue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Raj and Sam chat about the buzzer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Both can send anytime. Typing indicators are free. One TCP connection per chat.</a:t>
            </a:r>
          </a:p>
        </p:txBody>
      </p:sp>
      <p:pic>
        <p:nvPicPr>
          <p:cNvPr id="7" name="Picture 6" descr="p_ws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371" y="2331720"/>
            <a:ext cx="10444953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WEBSOCKET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0A8B8"/>
                </a:solidFill>
                <a:latin typeface="Helvetica Neue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Broadcast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Server tracks connected clients and fans messages out. Across processes, use Redis pub-sub.</a:t>
            </a:r>
          </a:p>
        </p:txBody>
      </p:sp>
      <p:pic>
        <p:nvPicPr>
          <p:cNvPr id="7" name="Picture 6" descr="11_websocket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47" y="2331720"/>
            <a:ext cx="73512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WEBSOCKET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WebSocket scaling - what changes at each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Each level adds infrastructure. Know which one you're 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10972800" cy="713232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  <a:latin typeface="Helvetica Neue"/>
              </a:rPr>
              <a:t>Up to ~100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48716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7E8F9"/>
                </a:solidFill>
                <a:latin typeface="Helvetica Neue"/>
              </a:rPr>
              <a:t>Anything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5E7EB"/>
                </a:solidFill>
                <a:latin typeface="Helvetica Neue"/>
              </a:rPr>
              <a:t>One process. Default config. Pick by ergonomics.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63824"/>
            <a:ext cx="10972800" cy="713232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7355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  <a:latin typeface="Helvetica Neue"/>
              </a:rPr>
              <a:t>100 - 10K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735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7E8F9"/>
                </a:solidFill>
                <a:latin typeface="Helvetica Neue"/>
              </a:rPr>
              <a:t>Tune the basics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9584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5E7EB"/>
                </a:solidFill>
                <a:latin typeface="Helvetica Neue"/>
              </a:rPr>
              <a:t>Async I/O required. ulimit -n 65535. Heartbeat every 20s. LB idle timeout to 5 min.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10972800" cy="713232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59936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  <a:latin typeface="Helvetica Neue"/>
              </a:rPr>
              <a:t>10K - 100K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059936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7E8F9"/>
                </a:solidFill>
                <a:latin typeface="Helvetica Neue"/>
              </a:rPr>
              <a:t>Pub-sub backbone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1596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5E7EB"/>
                </a:solidFill>
                <a:latin typeface="Helvetica Neue"/>
              </a:rPr>
              <a:t>Multiple processes/instances. Redis or NATS pub-sub for cross-server broadcasts. Sticky LB sessions. Connection metrics.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36592"/>
            <a:ext cx="10972800" cy="713232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46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  <a:latin typeface="Helvetica Neue"/>
              </a:rPr>
              <a:t>100K - 1M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846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7E8F9"/>
                </a:solidFill>
                <a:latin typeface="Helvetica Neue"/>
              </a:rPr>
              <a:t>Specialised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0235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5E7EB"/>
                </a:solidFill>
                <a:latin typeface="Helvetica Neue"/>
              </a:rPr>
              <a:t>Phoenix Channels (Elixir), Centrifugo, Ably, Pusher, PartyKit. Kernel tuning. Separate WS gateway tier from app servers. Edge delivery (Cloudflare/Fastly).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522976"/>
            <a:ext cx="10972800" cy="713232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32704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  <a:latin typeface="Helvetica Neue"/>
              </a:rPr>
              <a:t>Over 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632704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7E8F9"/>
                </a:solidFill>
                <a:latin typeface="Helvetica Neue"/>
              </a:rPr>
              <a:t>Specialised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88736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5E7EB"/>
                </a:solidFill>
                <a:latin typeface="Helvetica Neue"/>
              </a:rPr>
              <a:t>You're past blog-post territory. Hire someone who's done it before. This is a full ops surface.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WEBSOCKET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WebSocket bugs you'll hit, and how to ship around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Most production WS pain comes from these.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11091672" cy="658368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04872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No reconnect logic on the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7919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Helvetica Neue"/>
              </a:rPr>
              <a:t>Network blips silently kill your client forever. Always write a reconnecting wrapper with exponential backoff + jitter.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44952"/>
            <a:ext cx="11091672" cy="658368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18104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No heartbeat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9242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Helvetica Neue"/>
              </a:rPr>
              <a:t>Half-open TCP (network died but TCP doesn't know) looks alive until you write. Send {type:'ping'} every 20-30s; force reconnect if no pong.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58184"/>
            <a:ext cx="11091672" cy="658368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Server is sync (Flask sync, Django pre-Channels)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05656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Helvetica Neue"/>
              </a:rPr>
              <a:t>Exhausts worker pool at ~50 connections. WS needs async (asyncio/uvicorn, Node, Go) - period.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71416"/>
            <a:ext cx="11091672" cy="658368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Custom auth via browser headers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1888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Helvetica Neue"/>
              </a:rPr>
              <a:t>Browser WebSocket API does NOT allow custom headers. Use cookies, a subprotocol-as-token, or a short-lived URL token (ws://...?ticket=xxx).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84648"/>
            <a:ext cx="11091672" cy="658368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No backpressure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Helvetica Neue"/>
              </a:rPr>
              <a:t>Slow client + fast server = OOM. Bound your send queues; close clients that fall behind.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97880"/>
            <a:ext cx="11091672" cy="658368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971032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B7185"/>
                </a:solidFill>
                <a:latin typeface="Helvetica Neue"/>
              </a:rPr>
              <a:t>Works on dev (one server) breaks on prod (LB + multiple servers)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2453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5E7EB"/>
                </a:solidFill>
                <a:latin typeface="Helvetica Neue"/>
              </a:rPr>
              <a:t>Sticky sessions on LB; pub-sub backbone (Redis) so broadcasts cross processes; check LB actually supports Upgrade header.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WEBSOCKET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SSE vs WebSocket - when each one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Default to SSE. WebSocket only when you NEED bidirectional.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7E8F9"/>
                </a:solidFill>
                <a:latin typeface="Helvetica Neue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4688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ADE80"/>
                </a:solidFill>
                <a:latin typeface="Helvetica Neue"/>
              </a:rPr>
              <a:t>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4688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0A5FA"/>
                </a:solidFill>
                <a:latin typeface="Helvetica Neue"/>
              </a:rPr>
              <a:t>WebSocket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0A8B8"/>
                </a:solidFill>
                <a:latin typeface="Helvetica Neue"/>
              </a:rPr>
              <a:t>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9260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Server -&gt; client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9260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Both 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0A8B8"/>
                </a:solidFill>
                <a:latin typeface="Helvetica Neue"/>
              </a:rPr>
              <a:t>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3375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Plain HTTP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3375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HTTP upgrade to ws://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0A8B8"/>
                </a:solidFill>
                <a:latin typeface="Helvetica Neue"/>
              </a:rPr>
              <a:t>Browser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490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EventSource (built 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74904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WebSocket (built 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0A8B8"/>
                </a:solidFill>
                <a:latin typeface="Helvetica Neue"/>
              </a:rPr>
              <a:t>Auto-reconnect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1605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Yes, 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1605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No, you write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0A8B8"/>
                </a:solidFill>
                <a:latin typeface="Helvetica Neue"/>
              </a:rPr>
              <a:t>Binary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572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No (text only)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57200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83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0A8B8"/>
                </a:solidFill>
                <a:latin typeface="Helvetica Neue"/>
              </a:rPr>
              <a:t>Through proxies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9834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Almost always 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9834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Sometimes blocked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949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0A8B8"/>
                </a:solidFill>
                <a:latin typeface="Helvetica Neue"/>
              </a:rPr>
              <a:t>Best for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3949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LLM tokens, status, 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394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Chat, voice, games, collab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39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5E7EB"/>
                </a:solidFill>
                <a:latin typeface="Helvetica Neue"/>
              </a:rPr>
              <a:t>Decision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7E8F9"/>
                </a:solidFill>
                <a:latin typeface="Helvetica Neue"/>
              </a:rPr>
              <a:t>SECTION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0A8B8"/>
                </a:solidFill>
                <a:latin typeface="Helvetica Neue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The decision tree - generic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Walk top to bottom. The first leaf that matches your data flow is the answer.</a:t>
            </a:r>
          </a:p>
        </p:txBody>
      </p:sp>
      <p:pic>
        <p:nvPicPr>
          <p:cNvPr id="7" name="Picture 6" descr="12_deci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955" y="2331720"/>
            <a:ext cx="5555785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7E8F9"/>
                </a:solidFill>
                <a:latin typeface="Helvetica Neue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Maya picking the pattern for a new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Same tree, framed as Maya's design checklist. Same answer, more memorable.</a:t>
            </a:r>
          </a:p>
        </p:txBody>
      </p:sp>
      <p:pic>
        <p:nvPicPr>
          <p:cNvPr id="7" name="Picture 6" descr="p_decision_with_pers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608" y="2331720"/>
            <a:ext cx="6794478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'I'm building X' - 8 quick recipes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Common features and the pattern that fits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ChatGPT-style typewriter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0116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878"/>
                </a:solidFill>
                <a:latin typeface="Helvetica Neue"/>
              </a:rPr>
              <a:t>-&gt;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1168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DE80"/>
                </a:solidFill>
                <a:latin typeface="Helvetica Neue"/>
              </a:rPr>
              <a:t>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0A8B8"/>
                </a:solidFill>
                <a:latin typeface="Helvetica Neue"/>
              </a:rPr>
              <a:t>Browser-native, auto-reconnect, simple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8716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Slack-style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8716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878"/>
                </a:solidFill>
                <a:latin typeface="Helvetica Neue"/>
              </a:rPr>
              <a:t>-&gt;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48716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  <a:latin typeface="Helvetica Neue"/>
              </a:rPr>
              <a:t>WebSocket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8716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0A8B8"/>
                </a:solidFill>
                <a:latin typeface="Helvetica Neue"/>
              </a:rPr>
              <a:t>Both directions, low latency, typing indicators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6265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Stripe payment notification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6265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878"/>
                </a:solidFill>
                <a:latin typeface="Helvetica Neue"/>
              </a:rPr>
              <a:t>-&gt;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62656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B7185"/>
                </a:solidFill>
                <a:latin typeface="Helvetica Neue"/>
              </a:rPr>
              <a:t>Webhook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62656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0A8B8"/>
                </a:solidFill>
                <a:latin typeface="Helvetica Neue"/>
              </a:rPr>
              <a:t>Stripe is the source of truth; let them call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38144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Live stock ticker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438144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878"/>
                </a:solidFill>
                <a:latin typeface="Helvetica Neue"/>
              </a:rPr>
              <a:t>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438144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DE80"/>
                </a:solidFill>
                <a:latin typeface="Helvetica Neue"/>
              </a:rPr>
              <a:t>SSE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38144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0A8B8"/>
                </a:solidFill>
                <a:latin typeface="Helvetica Neue"/>
              </a:rPr>
              <a:t>One-way, many subscribers, no client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1363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Multiplayer browser game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91363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878"/>
                </a:solidFill>
                <a:latin typeface="Helvetica Neue"/>
              </a:rPr>
              <a:t>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913632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  <a:latin typeface="Helvetica Neue"/>
              </a:rPr>
              <a:t>WebSocket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9136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0A8B8"/>
                </a:solidFill>
                <a:latin typeface="Helvetica Neue"/>
              </a:rPr>
              <a:t>Sub-100ms two-way, binary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91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Voice agent (audio in + out)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389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878"/>
                </a:solidFill>
                <a:latin typeface="Helvetica Neue"/>
              </a:rPr>
              <a:t>-&gt;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38912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  <a:latin typeface="Helvetica Neue"/>
              </a:rPr>
              <a:t>WebSocket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891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0A8B8"/>
                </a:solidFill>
                <a:latin typeface="Helvetica Neue"/>
              </a:rPr>
              <a:t>Bidirectional binary; SSE can't carry binary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6460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'Is my batch report done?'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8646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878"/>
                </a:solidFill>
                <a:latin typeface="Helvetica Neue"/>
              </a:rPr>
              <a:t>-&gt;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86460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Helvetica Neue"/>
              </a:rPr>
              <a:t>Polling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86460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0A8B8"/>
                </a:solidFill>
                <a:latin typeface="Helvetica Neue"/>
              </a:rPr>
              <a:t>Low frequency, simple, OK to be a few seconds 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4009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5E7EB"/>
                </a:solidFill>
                <a:latin typeface="Helvetica Neue"/>
              </a:rPr>
              <a:t>MCP server tool calls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34009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06878"/>
                </a:solidFill>
                <a:latin typeface="Helvetica Neue"/>
              </a:rPr>
              <a:t>-&gt;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340096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ADE80"/>
                </a:solidFill>
                <a:latin typeface="Helvetica Neue"/>
              </a:rPr>
              <a:t>SSE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340096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0A8B8"/>
                </a:solidFill>
                <a:latin typeface="Helvetica Neue"/>
              </a:rPr>
              <a:t>One call -&gt; many progress events; perfect fit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AI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AI scenario - the agent kicks off a long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Research agent takes 3-5 min. Three valid patterns to surface progress.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0972800" cy="914400"/>
          </a:xfrm>
          <a:prstGeom prst="roundRect">
            <a:avLst/>
          </a:prstGeom>
          <a:solidFill>
            <a:srgbClr val="141923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3347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Helvetica Neue"/>
              </a:rPr>
              <a:t>Polling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633472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POST /jobs returns {id}. UI polls /jobs/{id} every 5s. Spinner -&gt; done toast. Simplest, no progress detail.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10972800" cy="914400"/>
          </a:xfrm>
          <a:prstGeom prst="roundRect">
            <a:avLst/>
          </a:prstGeom>
          <a:solidFill>
            <a:srgbClr val="141923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63931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ADE80"/>
                </a:solidFill>
                <a:latin typeface="Helvetica Neue"/>
              </a:rPr>
              <a:t>SSE for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639312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POST /jobs returns {id}. UI opens /jobs/{id}/stream. Server pushes 'searching web', 'reading 3 docs', 'writing'. Best UX - feels fast even when slow.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10972800" cy="914400"/>
          </a:xfrm>
          <a:prstGeom prst="roundRect">
            <a:avLst/>
          </a:prstGeom>
          <a:solidFill>
            <a:srgbClr val="141923"/>
          </a:solidFill>
          <a:ln w="1905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451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B7185"/>
                </a:solidFill>
                <a:latin typeface="Helvetica Neue"/>
              </a:rPr>
              <a:t>Webhook callback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645152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5E7EB"/>
                </a:solidFill>
                <a:latin typeface="Helvetica Neue"/>
              </a:rPr>
              <a:t>When the worker is external (OpenAI Batch, your own remote service). Pass callback_url; remote service POSTs when done. Best for fully async.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09728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400" b="1">
                <a:solidFill>
                  <a:srgbClr val="67E8F9"/>
                </a:solidFill>
                <a:latin typeface="Helvetica Neue"/>
              </a:rPr>
              <a:t>Rule of thumb: SSE for progress within seconds. Webhook callback when the wait is hours.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AI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AI scenario - voice or interruptible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Microphone in, speaker out, mid-stream interrupt. Only WebSocket fits.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1371600" cy="731520"/>
          </a:xfrm>
          <a:prstGeom prst="roundRect">
            <a:avLst/>
          </a:prstGeom>
          <a:solidFill>
            <a:srgbClr val="141923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Helvetica Neue"/>
              </a:rPr>
              <a:t>Mic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834640"/>
            <a:ext cx="1371600" cy="731520"/>
          </a:xfrm>
          <a:prstGeom prst="roundRect">
            <a:avLst/>
          </a:prstGeom>
          <a:solidFill>
            <a:srgbClr val="141923"/>
          </a:solidFill>
          <a:ln w="19050">
            <a:solidFill>
              <a:srgbClr val="67E8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3017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7E8F9"/>
                </a:solidFill>
                <a:latin typeface="Helvetica Neue"/>
              </a:rP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286000"/>
            <a:ext cx="1371600" cy="731520"/>
          </a:xfrm>
          <a:prstGeom prst="roundRect">
            <a:avLst/>
          </a:prstGeom>
          <a:solidFill>
            <a:srgbClr val="141923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468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084FC"/>
                </a:solidFill>
                <a:latin typeface="Helvetica Neue"/>
              </a:rPr>
              <a:t>ASR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383280"/>
            <a:ext cx="1371600" cy="731520"/>
          </a:xfrm>
          <a:prstGeom prst="roundRect">
            <a:avLst/>
          </a:prstGeom>
          <a:solidFill>
            <a:srgbClr val="141923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3566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084FC"/>
                </a:solidFill>
                <a:latin typeface="Helvetica Neue"/>
              </a:rPr>
              <a:t>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834640"/>
            <a:ext cx="1371600" cy="731520"/>
          </a:xfrm>
          <a:prstGeom prst="roundRect">
            <a:avLst/>
          </a:prstGeom>
          <a:solidFill>
            <a:srgbClr val="141923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3017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084FC"/>
                </a:solidFill>
                <a:latin typeface="Helvetica Neue"/>
              </a:rPr>
              <a:t>TTS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834640"/>
            <a:ext cx="1371600" cy="731520"/>
          </a:xfrm>
          <a:prstGeom prst="roundRect">
            <a:avLst/>
          </a:prstGeom>
          <a:solidFill>
            <a:srgbClr val="141923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3017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  <a:latin typeface="Helvetica Neue"/>
              </a:rPr>
              <a:t>Speaker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A0A8B8"/>
                </a:solidFill>
                <a:latin typeface="Helvetica Neue"/>
              </a:rPr>
              <a:t>Audio frames flow both ways over one WebSocket  ·  interrupting sends a 'stop' upstream while audio still streams 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109728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Helvetica Neue"/>
              </a:rPr>
              <a:t>SSE   one-way (server -&gt; client). Mic input has nowhere to go.</a:t>
            </a:r>
          </a:p>
          <a:p>
            <a:pPr algn="l"/>
            <a:r>
              <a:rPr sz="1300" b="0">
                <a:solidFill>
                  <a:srgbClr val="E5E7EB"/>
                </a:solidFill>
                <a:latin typeface="Helvetica Neue"/>
              </a:rPr>
              <a:t>Polling   latency is way too high; users would hear stutters.</a:t>
            </a:r>
          </a:p>
          <a:p>
            <a:pPr algn="l"/>
            <a:r>
              <a:rPr sz="1300" b="0">
                <a:solidFill>
                  <a:srgbClr val="E5E7EB"/>
                </a:solidFill>
                <a:latin typeface="Helvetica Neue"/>
              </a:rPr>
              <a:t>Webhooks   server-to-server only; no path from a user's microphone.</a:t>
            </a:r>
          </a:p>
          <a:p>
            <a:pPr algn="l"/>
            <a:r>
              <a:rPr sz="1300" b="0">
                <a:solidFill>
                  <a:srgbClr val="E5E7EB"/>
                </a:solidFill>
                <a:latin typeface="Helvetica Neue"/>
              </a:rPr>
              <a:t>WebSocket   binary + bidirectional + low overhead.  Used by OpenAI Realtime, ElevenLabs, Vapi, Retell.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45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5E7EB"/>
                </a:solidFill>
                <a:latin typeface="Helvetica Neue"/>
              </a:rPr>
              <a:t>All Four,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84FC"/>
                </a:solidFill>
                <a:latin typeface="Helvetica Neue"/>
              </a:rPr>
              <a:t>SECTION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0A8B8"/>
                </a:solidFill>
                <a:latin typeface="Helvetica Neue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A real AI app uses all four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Generic architecture. Each edge labelled with which pattern carries it.</a:t>
            </a:r>
          </a:p>
        </p:txBody>
      </p:sp>
      <p:pic>
        <p:nvPicPr>
          <p:cNvPr id="7" name="Picture 6" descr="13_ai_app_all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216" y="2331720"/>
            <a:ext cx="6291262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84FC"/>
                </a:solidFill>
                <a:latin typeface="Helvetica Neue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LiveOrder - all 4 in Raj's order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Same composition, our personas. This is Project 3 in the repo.</a:t>
            </a:r>
          </a:p>
        </p:txBody>
      </p:sp>
      <p:pic>
        <p:nvPicPr>
          <p:cNvPr id="7" name="Picture 6" descr="p_liveorder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437" y="2331720"/>
            <a:ext cx="788882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0A8B8"/>
                </a:solidFill>
                <a:latin typeface="Helvetica Neue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MCP - the 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Claude calls tools over HTTP+SSE / Streamable HTTP. One request -&gt; many progress events.</a:t>
            </a:r>
          </a:p>
        </p:txBody>
      </p:sp>
      <p:pic>
        <p:nvPicPr>
          <p:cNvPr id="7" name="Picture 6" descr="14_mc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378" y="2331720"/>
            <a:ext cx="9382938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640080"/>
            <a:ext cx="1463040" cy="320040"/>
          </a:xfrm>
          <a:prstGeom prst="round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0B0E14"/>
                </a:solidFill>
                <a:latin typeface="Helvetica Neue"/>
              </a:rPr>
              <a:t>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6583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084FC"/>
                </a:solidFill>
                <a:latin typeface="Helvetica Neue"/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Maya exposing LiveOrder data to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Maya's MCP server lets Claude query LiveOrder. The transport is SSE you've already learned.</a:t>
            </a:r>
          </a:p>
        </p:txBody>
      </p:sp>
      <p:pic>
        <p:nvPicPr>
          <p:cNvPr id="7" name="Picture 6" descr="p_mcp_pers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704" y="2331720"/>
            <a:ext cx="8624287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50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7E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5E7EB"/>
                </a:solidFill>
                <a:latin typeface="Helvetica Neue"/>
              </a:rPr>
              <a:t>Workshop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7E8F9"/>
                </a:solidFill>
                <a:latin typeface="Helvetica Neue"/>
              </a:rPr>
              <a:t>SECTION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Three projects to fork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Each runs locally. Each compares or composes patterns differently.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0972800" cy="118872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7E8F9"/>
                </a:solidFill>
                <a:latin typeface="Helvetica Neue"/>
              </a:rPr>
              <a:t>Project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46888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5E7EB"/>
                </a:solidFill>
                <a:latin typeface="Helvetica Neue"/>
              </a:rPr>
              <a:t>Streaming Chat - 3 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92608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0A8B8"/>
                </a:solidFill>
                <a:latin typeface="Helvetica Neue"/>
              </a:rPr>
              <a:t>Same LLM chat exposed via polling, SSE, and WebSocket side-by-side. Feel the UX difference.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10972800" cy="118872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7E8F9"/>
                </a:solidFill>
                <a:latin typeface="Helvetica Neue"/>
              </a:rPr>
              <a:t>Project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84048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5E7EB"/>
                </a:solidFill>
                <a:latin typeface="Helvetica Neue"/>
              </a:rPr>
              <a:t>Webhook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429768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0A8B8"/>
                </a:solidFill>
                <a:latin typeface="Helvetica Neue"/>
              </a:rPr>
              <a:t>Stripe-style webhook intake (HMAC, dedup, fast 200) + receiving-side polling vs SSE comparison.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0972800" cy="1188720"/>
          </a:xfrm>
          <a:prstGeom prst="roundRect">
            <a:avLst/>
          </a:prstGeom>
          <a:solidFill>
            <a:srgbClr val="141923"/>
          </a:solidFill>
          <a:ln w="6350">
            <a:solidFill>
              <a:srgbClr val="26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2578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67E8F9"/>
                </a:solidFill>
                <a:latin typeface="Helvetica Neue"/>
              </a:rPr>
              <a:t>Project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5212080"/>
            <a:ext cx="8778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5E7EB"/>
                </a:solidFill>
                <a:latin typeface="Helvetica Neue"/>
              </a:rPr>
              <a:t>LiveOrder Capstone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566928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0A8B8"/>
                </a:solidFill>
                <a:latin typeface="Helvetica Neue"/>
              </a:rPr>
              <a:t>All 4 patterns in one mini-app: order tracking (SSE), driver chat (WS), payment (webhook), revenue report (polling), AI recommender (SSE/LLM).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Lab folders + Postman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Read the code, run it, click Send, see the wire.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500">
                <a:solidFill>
                  <a:srgbClr val="E5E7EB"/>
                </a:solidFill>
                <a:latin typeface="Helvetica Neue"/>
              </a:rPr>
              <a:t>examples/01..07 - one tiny self-contained folder per topic with server.py + client.py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500">
                <a:solidFill>
                  <a:srgbClr val="E5E7EB"/>
                </a:solidFill>
                <a:latin typeface="Helvetica Neue"/>
              </a:rPr>
              <a:t>examples/qa.sh - runs every example end-to-end (49 assertions, all green)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500">
                <a:solidFill>
                  <a:srgbClr val="E5E7EB"/>
                </a:solidFill>
                <a:latin typeface="Helvetica Neue"/>
              </a:rPr>
              <a:t>postman/ - 53 requests in 9 folders, with pre-request scripts for HMAC + JWT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500">
                <a:solidFill>
                  <a:srgbClr val="E5E7EB"/>
                </a:solidFill>
                <a:latin typeface="Helvetica Neue"/>
              </a:rPr>
              <a:t>diagrams/ - 14 technical + 10 persona scenario diagrams, all generated from Python builders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500">
                <a:solidFill>
                  <a:srgbClr val="E5E7EB"/>
                </a:solidFill>
                <a:latin typeface="Helvetica Neue"/>
              </a:rPr>
              <a:t>concepts/ - 8 deep-dive markdown docs (~2900 lines) as the workbook companion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67E8F9"/>
                </a:solidFill>
                <a:latin typeface="Helvetica Neue"/>
              </a:rPr>
              <a:t>•  </a:t>
            </a:r>
            <a:r>
              <a:rPr sz="1500">
                <a:solidFill>
                  <a:srgbClr val="E5E7EB"/>
                </a:solidFill>
                <a:latin typeface="Helvetica Neue"/>
              </a:rPr>
              <a:t>TEACHING.md - the live-class playbook with talking points per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Get the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Clone, run the QA, fork the project that fits what you're building.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800" b="1">
                <a:solidFill>
                  <a:srgbClr val="67E8F9"/>
                </a:solidFill>
                <a:latin typeface="Helvetica Neue"/>
              </a:rPr>
              <a:t>github.com/fnusatvik07/real-time-events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2296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Menlo"/>
              </a:rPr>
              <a:t>git clone https://github.com/fnusatvik07/real-time-events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Menlo"/>
              </a:rPr>
              <a:t>cd real-time-events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Menlo"/>
              </a:rPr>
              <a:t>python -m venv .venv &amp;&amp; source .venv/bin/activate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Menlo"/>
              </a:rPr>
              <a:t>uv pip install fastapi 'uvicorn[standard]' httpx websockets python-dotenv openai</a:t>
            </a:r>
          </a:p>
          <a:p>
            <a:pPr algn="l"/>
            <a:r>
              <a:rPr sz="1500" b="0">
                <a:solidFill>
                  <a:srgbClr val="E5E7EB"/>
                </a:solidFill>
                <a:latin typeface="Menlo"/>
              </a:rPr>
              <a:t>cd examples &amp;&amp; bash qa.sh    # 49 checks, ~2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200" b="1">
                <a:solidFill>
                  <a:srgbClr val="E5E7EB"/>
                </a:solidFill>
                <a:latin typeface="Helvetica Neue"/>
              </a:rPr>
              <a:t>What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600">
                <a:solidFill>
                  <a:srgbClr val="A0A8B8"/>
                </a:solidFill>
                <a:latin typeface="Helvetica Neue"/>
              </a:rPr>
              <a:t>Print this on a sticky note.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651760" cy="3291840"/>
          </a:xfrm>
          <a:prstGeom prst="roundRect">
            <a:avLst/>
          </a:prstGeom>
          <a:solidFill>
            <a:srgbClr val="141923"/>
          </a:solidFill>
          <a:ln w="254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BBF24"/>
                </a:solidFill>
                <a:latin typeface="Helvetica Neue"/>
              </a:rPr>
              <a:t>POLLING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E5E7EB"/>
                </a:solidFill>
                <a:latin typeface="Helvetica Neue"/>
              </a:rPr>
              <a:t>Slow checks, rare events.</a:t>
            </a:r>
          </a:p>
          <a:p>
            <a:pPr algn="ctr"/>
            <a:r>
              <a:rPr sz="1400">
                <a:solidFill>
                  <a:srgbClr val="E5E7EB"/>
                </a:solidFill>
                <a:latin typeface="Helvetica Neue"/>
              </a:rPr>
              <a:t>OK to be a few seconds late.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468880"/>
            <a:ext cx="2651760" cy="3291840"/>
          </a:xfrm>
          <a:prstGeom prst="roundRect">
            <a:avLst/>
          </a:prstGeom>
          <a:solidFill>
            <a:srgbClr val="141923"/>
          </a:solidFill>
          <a:ln w="254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9260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B7185"/>
                </a:solidFill>
                <a:latin typeface="Helvetica Neue"/>
              </a:rPr>
              <a:t>WEBHOOKS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7490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E5E7EB"/>
                </a:solidFill>
                <a:latin typeface="Helvetica Neue"/>
              </a:rPr>
              <a:t>External trigger.</a:t>
            </a:r>
          </a:p>
          <a:p>
            <a:pPr algn="ctr"/>
            <a:r>
              <a:rPr sz="1400">
                <a:solidFill>
                  <a:srgbClr val="E5E7EB"/>
                </a:solidFill>
                <a:latin typeface="Helvetica Neue"/>
              </a:rPr>
              <a:t>Sign + dedup + return 200 fast.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468880"/>
            <a:ext cx="2651760" cy="3291840"/>
          </a:xfrm>
          <a:prstGeom prst="roundRect">
            <a:avLst/>
          </a:prstGeom>
          <a:solidFill>
            <a:srgbClr val="141923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9260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4ADE80"/>
                </a:solidFill>
                <a:latin typeface="Helvetica Neue"/>
              </a:rPr>
              <a:t>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E5E7EB"/>
                </a:solidFill>
                <a:latin typeface="Helvetica Neue"/>
              </a:rPr>
              <a:t>Server -&gt; client streaming.</a:t>
            </a:r>
          </a:p>
          <a:p>
            <a:pPr algn="ctr"/>
            <a:r>
              <a:rPr sz="1400">
                <a:solidFill>
                  <a:srgbClr val="E5E7EB"/>
                </a:solidFill>
                <a:latin typeface="Helvetica Neue"/>
              </a:rPr>
              <a:t>Default for live UI.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468880"/>
            <a:ext cx="2651760" cy="3291840"/>
          </a:xfrm>
          <a:prstGeom prst="roundRect">
            <a:avLst/>
          </a:prstGeom>
          <a:solidFill>
            <a:srgbClr val="141923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9260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60A5FA"/>
                </a:solidFill>
                <a:latin typeface="Helvetica Neue"/>
              </a:rPr>
              <a:t>WEBSOCKETS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7490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E5E7EB"/>
                </a:solidFill>
                <a:latin typeface="Helvetica Neue"/>
              </a:rPr>
              <a:t>Both ways or binary only.</a:t>
            </a:r>
          </a:p>
          <a:p>
            <a:pPr algn="ctr"/>
            <a:r>
              <a:rPr sz="1400">
                <a:solidFill>
                  <a:srgbClr val="E5E7EB"/>
                </a:solidFill>
                <a:latin typeface="Helvetica Neue"/>
              </a:rPr>
              <a:t>Reach last.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09728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500" b="1">
                <a:solidFill>
                  <a:srgbClr val="67E8F9"/>
                </a:solidFill>
                <a:latin typeface="Helvetica Neue"/>
              </a:rPr>
              <a:t>Default SSE. WebSocket only when bidirectional. Polling for slow. Webhooks for external.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67E8F9"/>
                </a:solidFill>
                <a:latin typeface="Helvetica Neue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i="1">
                <a:solidFill>
                  <a:srgbClr val="A0A8B8"/>
                </a:solidFill>
                <a:latin typeface="Helvetica Neue"/>
              </a:rPr>
              <a:t>Bring your own use case. We'll map it to a pattern.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E5E7EB"/>
                </a:solidFill>
                <a:latin typeface="Menlo"/>
              </a:rPr>
              <a:t>github.com/fnusatvik07/real-time-events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2743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A0A8B8"/>
                </a:solidFill>
                <a:latin typeface="Helvetica Neue"/>
              </a:rPr>
              <a:t>datasense</a:t>
            </a:r>
            <a:r>
              <a:rPr sz="900">
                <a:solidFill>
                  <a:srgbClr val="606878"/>
                </a:solidFill>
                <a:latin typeface="Helvetica Neue"/>
              </a:rPr>
              <a:t>  ·  Real-Time Patterns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606878"/>
                </a:solidFill>
                <a:latin typeface="Helvetica Neue"/>
              </a:rPr>
              <a:t>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